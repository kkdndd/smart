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notesMasterIdLst>
    <p:notesMasterId r:id="rId2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notesMaster" Target="notesMasters/notesMaster1.xml"/><Relationship Id="rId27" Type="http://schemas.openxmlformats.org/officeDocument/2006/relationships/presProps" Target="presProps.xml"/><Relationship Id="rId28" Type="http://schemas.openxmlformats.org/officeDocument/2006/relationships/viewProps" Target="viewProps.xml"/><Relationship Id="rId29" Type="http://schemas.openxmlformats.org/officeDocument/2006/relationships/theme" Target="theme/theme1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A435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645920"/>
            <a:ext cx="3840480" cy="3840480"/>
          </a:xfrm>
          <a:prstGeom prst="ellipse">
            <a:avLst/>
          </a:prstGeom>
          <a:solidFill>
            <a:srgbClr val="2C3342"/>
          </a:solidFill>
          <a:ln/>
        </p:spPr>
      </p:sp>
      <p:sp>
        <p:nvSpPr>
          <p:cNvPr id="3" name="Shape 1"/>
          <p:cNvSpPr/>
          <p:nvPr/>
        </p:nvSpPr>
        <p:spPr>
          <a:xfrm>
            <a:off x="-1463040" y="4754880"/>
            <a:ext cx="3291840" cy="3291840"/>
          </a:xfrm>
          <a:prstGeom prst="ellipse">
            <a:avLst/>
          </a:prstGeom>
          <a:solidFill>
            <a:srgbClr val="2C3342"/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640080"/>
            <a:ext cx="566928" cy="566928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6400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anumGothicExtraBold" pitchFamily="34" charset="0"/>
                <a:ea typeface="NanumGothicExtraBold" pitchFamily="34" charset="-122"/>
                <a:cs typeface="NanumGothicExtraBold" pitchFamily="34" charset="-120"/>
              </a:rPr>
              <a:t>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325880" y="658368"/>
            <a:ext cx="2743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anumGothicExtraBold" pitchFamily="34" charset="0"/>
                <a:ea typeface="NanumGothicExtraBold" pitchFamily="34" charset="-122"/>
                <a:cs typeface="NanumGothicExtraBold" pitchFamily="34" charset="-120"/>
              </a:rPr>
              <a:t>SMART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22960" y="2148840"/>
            <a:ext cx="105156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NanumGothicExtraBold" pitchFamily="34" charset="0"/>
                <a:ea typeface="NanumGothicExtraBold" pitchFamily="34" charset="-122"/>
                <a:cs typeface="NanumGothicExtraBold" pitchFamily="34" charset="-120"/>
              </a:rPr>
              <a:t>대교홀딩스</a:t>
            </a:r>
            <a:endParaRPr lang="en-US" sz="40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NanumGothicExtraBold" pitchFamily="34" charset="0"/>
                <a:ea typeface="NanumGothicExtraBold" pitchFamily="34" charset="-122"/>
                <a:cs typeface="NanumGothicExtraBold" pitchFamily="34" charset="-120"/>
              </a:rPr>
              <a:t>관리체계 시스템화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822960" y="384048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D7DBE3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추진배경 및 계열사 사용가이드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822960" y="59893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AA2B1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2026년 사업계획  ·  강원심층수 외 전 계열사 공통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1091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3A4356"/>
                </a:solidFill>
                <a:latin typeface="NanumGothicExtraBold" pitchFamily="34" charset="0"/>
                <a:ea typeface="NanumGothicExtraBold" pitchFamily="34" charset="-122"/>
                <a:cs typeface="NanumGothicExtraBold" pitchFamily="34" charset="-120"/>
              </a:rPr>
              <a:t>PART 1 · 관리체계 시스템화 추진배경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D1D1F"/>
                </a:solidFill>
                <a:latin typeface="NanumGothicExtraBold" pitchFamily="34" charset="0"/>
                <a:ea typeface="NanumGothicExtraBold" pitchFamily="34" charset="-122"/>
                <a:cs typeface="NanumGothicExtraBold" pitchFamily="34" charset="-120"/>
              </a:rPr>
              <a:t>기존 관리체계의 한계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078992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E6E73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기존 관리체계는 엑셀과 담당자의 수작업에 크게 의존하는 방식으로 운영되어 왔습니다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5362956" cy="1874520"/>
          </a:xfrm>
          <a:prstGeom prst="roundRect">
            <a:avLst>
              <a:gd name="adj" fmla="val 2927"/>
            </a:avLst>
          </a:prstGeom>
          <a:solidFill>
            <a:srgbClr val="FFFFFF"/>
          </a:solidFill>
          <a:ln w="12700">
            <a:solidFill>
              <a:srgbClr val="E5E5EA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1947672"/>
            <a:ext cx="457200" cy="457200"/>
          </a:xfrm>
          <a:prstGeom prst="ellipse">
            <a:avLst/>
          </a:prstGeom>
          <a:solidFill>
            <a:srgbClr val="C94A3C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19476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anumGothicExtraBold" pitchFamily="34" charset="0"/>
                <a:ea typeface="NanumGothicExtraBold" pitchFamily="34" charset="-122"/>
                <a:cs typeface="NanumGothicExtraBold" pitchFamily="34" charset="-120"/>
              </a:rPr>
              <a:t>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508760" y="1892808"/>
            <a:ext cx="41285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D1D1F"/>
                </a:solidFill>
                <a:latin typeface="NanumGothicExtraBold" pitchFamily="34" charset="0"/>
                <a:ea typeface="NanumGothicExtraBold" pitchFamily="34" charset="-122"/>
                <a:cs typeface="NanumGothicExtraBold" pitchFamily="34" charset="-120"/>
              </a:rPr>
              <a:t>입력 오류 · 중복 관리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22960" y="2606040"/>
            <a:ext cx="481431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6E6E73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입력 오류, 중복 관리, 최신본 혼선, 업무 누락이 반복적으로 발생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277356" y="1691640"/>
            <a:ext cx="5362956" cy="1874520"/>
          </a:xfrm>
          <a:prstGeom prst="roundRect">
            <a:avLst>
              <a:gd name="adj" fmla="val 2927"/>
            </a:avLst>
          </a:prstGeom>
          <a:solidFill>
            <a:srgbClr val="FFFFFF"/>
          </a:solidFill>
          <a:ln w="12700">
            <a:solidFill>
              <a:srgbClr val="E5E5EA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551676" y="1947672"/>
            <a:ext cx="457200" cy="457200"/>
          </a:xfrm>
          <a:prstGeom prst="ellipse">
            <a:avLst/>
          </a:prstGeom>
          <a:solidFill>
            <a:srgbClr val="C94A3C"/>
          </a:solidFill>
          <a:ln/>
        </p:spPr>
      </p:sp>
      <p:sp>
        <p:nvSpPr>
          <p:cNvPr id="12" name="Text 10"/>
          <p:cNvSpPr/>
          <p:nvPr/>
        </p:nvSpPr>
        <p:spPr>
          <a:xfrm>
            <a:off x="6551676" y="19476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anumGothicExtraBold" pitchFamily="34" charset="0"/>
                <a:ea typeface="NanumGothicExtraBold" pitchFamily="34" charset="-122"/>
                <a:cs typeface="NanumGothicExtraBold" pitchFamily="34" charset="-120"/>
              </a:rPr>
              <a:t>2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237476" y="1892808"/>
            <a:ext cx="41285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D1D1F"/>
                </a:solidFill>
                <a:latin typeface="NanumGothicExtraBold" pitchFamily="34" charset="0"/>
                <a:ea typeface="NanumGothicExtraBold" pitchFamily="34" charset="-122"/>
                <a:cs typeface="NanumGothicExtraBold" pitchFamily="34" charset="-120"/>
              </a:rPr>
              <a:t>실시간 추적의 어려움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551676" y="2606040"/>
            <a:ext cx="481431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6E6E73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진행상황을 실시간으로 추적하기 어려워 업무 지연과 확인 누락 발생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48640" y="3840480"/>
            <a:ext cx="5362956" cy="1874520"/>
          </a:xfrm>
          <a:prstGeom prst="roundRect">
            <a:avLst>
              <a:gd name="adj" fmla="val 2927"/>
            </a:avLst>
          </a:prstGeom>
          <a:solidFill>
            <a:srgbClr val="FFFFFF"/>
          </a:solidFill>
          <a:ln w="12700">
            <a:solidFill>
              <a:srgbClr val="E5E5EA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22960" y="4096512"/>
            <a:ext cx="457200" cy="457200"/>
          </a:xfrm>
          <a:prstGeom prst="ellipse">
            <a:avLst/>
          </a:prstGeom>
          <a:solidFill>
            <a:srgbClr val="C94A3C"/>
          </a:solidFill>
          <a:ln/>
        </p:spPr>
      </p:sp>
      <p:sp>
        <p:nvSpPr>
          <p:cNvPr id="17" name="Text 15"/>
          <p:cNvSpPr/>
          <p:nvPr/>
        </p:nvSpPr>
        <p:spPr>
          <a:xfrm>
            <a:off x="822960" y="40965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anumGothicExtraBold" pitchFamily="34" charset="0"/>
                <a:ea typeface="NanumGothicExtraBold" pitchFamily="34" charset="-122"/>
                <a:cs typeface="NanumGothicExtraBold" pitchFamily="34" charset="-120"/>
              </a:rPr>
              <a:t>3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508760" y="4041648"/>
            <a:ext cx="41285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D1D1F"/>
                </a:solidFill>
                <a:latin typeface="NanumGothicExtraBold" pitchFamily="34" charset="0"/>
                <a:ea typeface="NanumGothicExtraBold" pitchFamily="34" charset="-122"/>
                <a:cs typeface="NanumGothicExtraBold" pitchFamily="34" charset="-120"/>
              </a:rPr>
              <a:t>분산된 데이터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822960" y="4754880"/>
            <a:ext cx="481431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6E6E73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데이터가 여러 파일과 담당자에게 분산되어 현황을 한눈에 파악하기 어려움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277356" y="3840480"/>
            <a:ext cx="5362956" cy="1874520"/>
          </a:xfrm>
          <a:prstGeom prst="roundRect">
            <a:avLst>
              <a:gd name="adj" fmla="val 2927"/>
            </a:avLst>
          </a:prstGeom>
          <a:solidFill>
            <a:srgbClr val="FFFFFF"/>
          </a:solidFill>
          <a:ln w="12700">
            <a:solidFill>
              <a:srgbClr val="E5E5EA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551676" y="4096512"/>
            <a:ext cx="457200" cy="457200"/>
          </a:xfrm>
          <a:prstGeom prst="ellipse">
            <a:avLst/>
          </a:prstGeom>
          <a:solidFill>
            <a:srgbClr val="C94A3C"/>
          </a:solidFill>
          <a:ln/>
        </p:spPr>
      </p:sp>
      <p:sp>
        <p:nvSpPr>
          <p:cNvPr id="22" name="Text 20"/>
          <p:cNvSpPr/>
          <p:nvPr/>
        </p:nvSpPr>
        <p:spPr>
          <a:xfrm>
            <a:off x="6551676" y="40965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anumGothicExtraBold" pitchFamily="34" charset="0"/>
                <a:ea typeface="NanumGothicExtraBold" pitchFamily="34" charset="-122"/>
                <a:cs typeface="NanumGothicExtraBold" pitchFamily="34" charset="-120"/>
              </a:rPr>
              <a:t>4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7237476" y="4041648"/>
            <a:ext cx="41285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D1D1F"/>
                </a:solidFill>
                <a:latin typeface="NanumGothicExtraBold" pitchFamily="34" charset="0"/>
                <a:ea typeface="NanumGothicExtraBold" pitchFamily="34" charset="-122"/>
                <a:cs typeface="NanumGothicExtraBold" pitchFamily="34" charset="-120"/>
              </a:rPr>
              <a:t>반복적인 수작업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6551676" y="4754880"/>
            <a:ext cx="481431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6E6E73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보고서 작성, 상태 업데이트, 인수인계 과정에서 반복적인 수작업 필요 → 업무 효율 저하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1A1A6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대교홀딩스 SMART 사업계획 관리 시스템 · 계열사 담당자 가이드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1A1A6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1091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3A4356"/>
                </a:solidFill>
                <a:latin typeface="NanumGothicExtraBold" pitchFamily="34" charset="0"/>
                <a:ea typeface="NanumGothicExtraBold" pitchFamily="34" charset="-122"/>
                <a:cs typeface="NanumGothicExtraBold" pitchFamily="34" charset="-120"/>
              </a:rPr>
              <a:t>PART 1 · 관리체계 시스템화 추진배경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D1D1F"/>
                </a:solidFill>
                <a:latin typeface="NanumGothicExtraBold" pitchFamily="34" charset="0"/>
                <a:ea typeface="NanumGothicExtraBold" pitchFamily="34" charset="-122"/>
                <a:cs typeface="NanumGothicExtraBold" pitchFamily="34" charset="-120"/>
              </a:rPr>
              <a:t>관리체계 시스템화 필요성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078992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E6E73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이러한 문제를 해결하기 위해 관리체계를 시스템화하고자 하였습니다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5362956" cy="2834640"/>
          </a:xfrm>
          <a:prstGeom prst="roundRect">
            <a:avLst>
              <a:gd name="adj" fmla="val 2258"/>
            </a:avLst>
          </a:prstGeom>
          <a:solidFill>
            <a:srgbClr val="FFFFFF"/>
          </a:solidFill>
          <a:ln w="12700">
            <a:solidFill>
              <a:srgbClr val="E5E5EA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2331720"/>
            <a:ext cx="640080" cy="640080"/>
          </a:xfrm>
          <a:prstGeom prst="ellipse">
            <a:avLst/>
          </a:prstGeom>
          <a:solidFill>
            <a:srgbClr val="3A4356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3317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anumGothicExtraBold" pitchFamily="34" charset="0"/>
                <a:ea typeface="NanumGothicExtraBold" pitchFamily="34" charset="-122"/>
                <a:cs typeface="NanumGothicExtraBold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14400" y="3200400"/>
            <a:ext cx="46314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D1D1F"/>
                </a:solidFill>
                <a:latin typeface="NanumGothicExtraBold" pitchFamily="34" charset="0"/>
                <a:ea typeface="NanumGothicExtraBold" pitchFamily="34" charset="-122"/>
                <a:cs typeface="NanumGothicExtraBold" pitchFamily="34" charset="-120"/>
              </a:rPr>
              <a:t>표준화 · 자동화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914400" y="3749040"/>
            <a:ext cx="463143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6E6E73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업무 흐름을 표준화하고 자동화하여 관리 방식의 일관성을 확보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277356" y="1965960"/>
            <a:ext cx="5362956" cy="2834640"/>
          </a:xfrm>
          <a:prstGeom prst="roundRect">
            <a:avLst>
              <a:gd name="adj" fmla="val 2258"/>
            </a:avLst>
          </a:prstGeom>
          <a:solidFill>
            <a:srgbClr val="FFFFFF"/>
          </a:solidFill>
          <a:ln w="12700">
            <a:solidFill>
              <a:srgbClr val="E5E5EA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643116" y="2331720"/>
            <a:ext cx="640080" cy="640080"/>
          </a:xfrm>
          <a:prstGeom prst="ellipse">
            <a:avLst/>
          </a:prstGeom>
          <a:solidFill>
            <a:srgbClr val="4C6FA5"/>
          </a:solidFill>
          <a:ln/>
        </p:spPr>
      </p:sp>
      <p:sp>
        <p:nvSpPr>
          <p:cNvPr id="12" name="Text 10"/>
          <p:cNvSpPr/>
          <p:nvPr/>
        </p:nvSpPr>
        <p:spPr>
          <a:xfrm>
            <a:off x="6643116" y="23317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anumGothicExtraBold" pitchFamily="34" charset="0"/>
                <a:ea typeface="NanumGothicExtraBold" pitchFamily="34" charset="-122"/>
                <a:cs typeface="NanumGothicExtraBold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643116" y="3200400"/>
            <a:ext cx="46314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D1D1F"/>
                </a:solidFill>
                <a:latin typeface="NanumGothicExtraBold" pitchFamily="34" charset="0"/>
                <a:ea typeface="NanumGothicExtraBold" pitchFamily="34" charset="-122"/>
                <a:cs typeface="NanumGothicExtraBold" pitchFamily="34" charset="-120"/>
              </a:rPr>
              <a:t>통합 관리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6643116" y="3749040"/>
            <a:ext cx="463143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6E6E73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데이터와 처리 이력을 하나의 기준으로 통합하여 관리 신뢰성을 향상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5911596" y="3108960"/>
            <a:ext cx="365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A1A1A6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→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548640" y="502920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E6E73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이 두 가지 방향을 중심으로 시스템을 설계하여, 다음과 같은 효과를 기대합니다.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1A1A6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대교홀딩스 SMART 사업계획 관리 시스템 · 계열사 담당자 가이드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1A1A6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1091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3A4356"/>
                </a:solidFill>
                <a:latin typeface="NanumGothicExtraBold" pitchFamily="34" charset="0"/>
                <a:ea typeface="NanumGothicExtraBold" pitchFamily="34" charset="-122"/>
                <a:cs typeface="NanumGothicExtraBold" pitchFamily="34" charset="-120"/>
              </a:rPr>
              <a:t>PART 1 · 관리체계 시스템화 추진배경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D1D1F"/>
                </a:solidFill>
                <a:latin typeface="NanumGothicExtraBold" pitchFamily="34" charset="0"/>
                <a:ea typeface="NanumGothicExtraBold" pitchFamily="34" charset="-122"/>
                <a:cs typeface="NanumGothicExtraBold" pitchFamily="34" charset="-120"/>
              </a:rPr>
              <a:t>시스템화 기대효과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078992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E6E73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관리체계 시스템화를 통해 다음과 같은 효과를 기대합니다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1645920"/>
            <a:ext cx="11091672" cy="713232"/>
          </a:xfrm>
          <a:prstGeom prst="roundRect">
            <a:avLst>
              <a:gd name="adj" fmla="val 6410"/>
            </a:avLst>
          </a:prstGeom>
          <a:solidFill>
            <a:srgbClr val="FFFFFF"/>
          </a:solidFill>
          <a:ln w="12700">
            <a:solidFill>
              <a:srgbClr val="E5E5EA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77240" y="1819656"/>
            <a:ext cx="365760" cy="365760"/>
          </a:xfrm>
          <a:prstGeom prst="ellipse">
            <a:avLst/>
          </a:prstGeom>
          <a:solidFill>
            <a:srgbClr val="2F9E5B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181965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anumGothicExtraBold" pitchFamily="34" charset="0"/>
                <a:ea typeface="NanumGothicExtraBold" pitchFamily="34" charset="-122"/>
                <a:cs typeface="NanumGothicExtraBold" pitchFamily="34" charset="-120"/>
              </a:rPr>
              <a:t>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325880" y="1719072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D1D1F"/>
                </a:solidFill>
                <a:latin typeface="NanumGothicExtraBold" pitchFamily="34" charset="0"/>
                <a:ea typeface="NanumGothicExtraBold" pitchFamily="34" charset="-122"/>
                <a:cs typeface="NanumGothicExtraBold" pitchFamily="34" charset="-120"/>
              </a:rPr>
              <a:t>업무 효율 향상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325880" y="2011680"/>
            <a:ext cx="10177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6E73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반복적인 수작업이 줄어들어 업무 시간과 운영 부담이 감소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8640" y="2450592"/>
            <a:ext cx="11091672" cy="713232"/>
          </a:xfrm>
          <a:prstGeom prst="roundRect">
            <a:avLst>
              <a:gd name="adj" fmla="val 6410"/>
            </a:avLst>
          </a:prstGeom>
          <a:solidFill>
            <a:srgbClr val="FFFFFF"/>
          </a:solidFill>
          <a:ln w="12700">
            <a:solidFill>
              <a:srgbClr val="E5E5EA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777240" y="2624328"/>
            <a:ext cx="365760" cy="365760"/>
          </a:xfrm>
          <a:prstGeom prst="ellipse">
            <a:avLst/>
          </a:prstGeom>
          <a:solidFill>
            <a:srgbClr val="4C6FA5"/>
          </a:solidFill>
          <a:ln/>
        </p:spPr>
      </p:sp>
      <p:sp>
        <p:nvSpPr>
          <p:cNvPr id="12" name="Text 10"/>
          <p:cNvSpPr/>
          <p:nvPr/>
        </p:nvSpPr>
        <p:spPr>
          <a:xfrm>
            <a:off x="777240" y="262432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anumGothicExtraBold" pitchFamily="34" charset="0"/>
                <a:ea typeface="NanumGothicExtraBold" pitchFamily="34" charset="-122"/>
                <a:cs typeface="NanumGothicExtraBold" pitchFamily="34" charset="-120"/>
              </a:rPr>
              <a:t>2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325880" y="2523744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D1D1F"/>
                </a:solidFill>
                <a:latin typeface="NanumGothicExtraBold" pitchFamily="34" charset="0"/>
                <a:ea typeface="NanumGothicExtraBold" pitchFamily="34" charset="-122"/>
                <a:cs typeface="NanumGothicExtraBold" pitchFamily="34" charset="-120"/>
              </a:rPr>
              <a:t>데이터 정확성 향상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325880" y="2816352"/>
            <a:ext cx="10177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6E73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입력 오류와 버전 혼선이 줄어 데이터 정확성과 관리 신뢰성이 향상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48640" y="3255264"/>
            <a:ext cx="11091672" cy="713232"/>
          </a:xfrm>
          <a:prstGeom prst="roundRect">
            <a:avLst>
              <a:gd name="adj" fmla="val 6410"/>
            </a:avLst>
          </a:prstGeom>
          <a:solidFill>
            <a:srgbClr val="FFFFFF"/>
          </a:solidFill>
          <a:ln w="12700">
            <a:solidFill>
              <a:srgbClr val="E5E5EA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777240" y="3429000"/>
            <a:ext cx="365760" cy="365760"/>
          </a:xfrm>
          <a:prstGeom prst="ellipse">
            <a:avLst/>
          </a:prstGeom>
          <a:solidFill>
            <a:srgbClr val="3A4356"/>
          </a:solidFill>
          <a:ln/>
        </p:spPr>
      </p:sp>
      <p:sp>
        <p:nvSpPr>
          <p:cNvPr id="17" name="Text 15"/>
          <p:cNvSpPr/>
          <p:nvPr/>
        </p:nvSpPr>
        <p:spPr>
          <a:xfrm>
            <a:off x="777240" y="34290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anumGothicExtraBold" pitchFamily="34" charset="0"/>
                <a:ea typeface="NanumGothicExtraBold" pitchFamily="34" charset="-122"/>
                <a:cs typeface="NanumGothicExtraBold" pitchFamily="34" charset="-120"/>
              </a:rPr>
              <a:t>3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325880" y="3328416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D1D1F"/>
                </a:solidFill>
                <a:latin typeface="NanumGothicExtraBold" pitchFamily="34" charset="0"/>
                <a:ea typeface="NanumGothicExtraBold" pitchFamily="34" charset="-122"/>
                <a:cs typeface="NanumGothicExtraBold" pitchFamily="34" charset="-120"/>
              </a:rPr>
              <a:t>의사결정 속도 향상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325880" y="3621024"/>
            <a:ext cx="10177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6E73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진행상황과 책임소재가 명확해져 의사결정 속도와 협업 효율이 향상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48640" y="4059936"/>
            <a:ext cx="11091672" cy="713232"/>
          </a:xfrm>
          <a:prstGeom prst="roundRect">
            <a:avLst>
              <a:gd name="adj" fmla="val 6410"/>
            </a:avLst>
          </a:prstGeom>
          <a:solidFill>
            <a:srgbClr val="FFFFFF"/>
          </a:solidFill>
          <a:ln w="12700">
            <a:solidFill>
              <a:srgbClr val="E5E5EA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777240" y="4233672"/>
            <a:ext cx="365760" cy="365760"/>
          </a:xfrm>
          <a:prstGeom prst="ellipse">
            <a:avLst/>
          </a:prstGeom>
          <a:solidFill>
            <a:srgbClr val="C98A1F"/>
          </a:solidFill>
          <a:ln/>
        </p:spPr>
      </p:sp>
      <p:sp>
        <p:nvSpPr>
          <p:cNvPr id="22" name="Text 20"/>
          <p:cNvSpPr/>
          <p:nvPr/>
        </p:nvSpPr>
        <p:spPr>
          <a:xfrm>
            <a:off x="777240" y="423367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anumGothicExtraBold" pitchFamily="34" charset="0"/>
                <a:ea typeface="NanumGothicExtraBold" pitchFamily="34" charset="-122"/>
                <a:cs typeface="NanumGothicExtraBold" pitchFamily="34" charset="-120"/>
              </a:rPr>
              <a:t>4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325880" y="4133088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D1D1F"/>
                </a:solidFill>
                <a:latin typeface="NanumGothicExtraBold" pitchFamily="34" charset="0"/>
                <a:ea typeface="NanumGothicExtraBold" pitchFamily="34" charset="-122"/>
                <a:cs typeface="NanumGothicExtraBold" pitchFamily="34" charset="-120"/>
              </a:rPr>
              <a:t>실시간 대응력 강화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325880" y="4425696"/>
            <a:ext cx="10177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6E73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실시간 현황 확인과 이력 추적이 가능해져 보고 및 대응이 수월해짐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48640" y="4864608"/>
            <a:ext cx="11091672" cy="713232"/>
          </a:xfrm>
          <a:prstGeom prst="roundRect">
            <a:avLst>
              <a:gd name="adj" fmla="val 6410"/>
            </a:avLst>
          </a:prstGeom>
          <a:solidFill>
            <a:srgbClr val="FFFFFF"/>
          </a:solidFill>
          <a:ln w="12700">
            <a:solidFill>
              <a:srgbClr val="E5E5EA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777240" y="5038344"/>
            <a:ext cx="365760" cy="365760"/>
          </a:xfrm>
          <a:prstGeom prst="ellipse">
            <a:avLst/>
          </a:prstGeom>
          <a:solidFill>
            <a:srgbClr val="2F9E5B"/>
          </a:solidFill>
          <a:ln/>
        </p:spPr>
      </p:sp>
      <p:sp>
        <p:nvSpPr>
          <p:cNvPr id="27" name="Text 25"/>
          <p:cNvSpPr/>
          <p:nvPr/>
        </p:nvSpPr>
        <p:spPr>
          <a:xfrm>
            <a:off x="777240" y="503834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anumGothicExtraBold" pitchFamily="34" charset="0"/>
                <a:ea typeface="NanumGothicExtraBold" pitchFamily="34" charset="-122"/>
                <a:cs typeface="NanumGothicExtraBold" pitchFamily="34" charset="-120"/>
              </a:rPr>
              <a:t>5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1325880" y="4937760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D1D1F"/>
                </a:solidFill>
                <a:latin typeface="NanumGothicExtraBold" pitchFamily="34" charset="0"/>
                <a:ea typeface="NanumGothicExtraBold" pitchFamily="34" charset="-122"/>
                <a:cs typeface="NanumGothicExtraBold" pitchFamily="34" charset="-120"/>
              </a:rPr>
              <a:t>확장성 확보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1325880" y="5230368"/>
            <a:ext cx="10177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6E73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향후 업무 확대나 조직 변화에도 유연하게 대응할 수 있는 확장성을 확보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548640" y="5760720"/>
            <a:ext cx="1109167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i="1" dirty="0">
                <a:solidFill>
                  <a:srgbClr val="6E6E73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다섯 가지 효과는 서로 독립적이지 않으며, 데이터가 정확해질수록 의사결정이 빨라지고 대응력과 확장성도 함께 높아집니다.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1A1A6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대교홀딩스 SMART 사업계획 관리 시스템 · 계열사 담당자 가이드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1A1A6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1091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3A4356"/>
                </a:solidFill>
                <a:latin typeface="NanumGothicExtraBold" pitchFamily="34" charset="0"/>
                <a:ea typeface="NanumGothicExtraBold" pitchFamily="34" charset="-122"/>
                <a:cs typeface="NanumGothicExtraBold" pitchFamily="34" charset="-120"/>
              </a:rPr>
              <a:t>PART 1 · 관리체계 시스템화 추진배경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D1D1F"/>
                </a:solidFill>
                <a:latin typeface="NanumGothicExtraBold" pitchFamily="34" charset="0"/>
                <a:ea typeface="NanumGothicExtraBold" pitchFamily="34" charset="-122"/>
                <a:cs typeface="NanumGothicExtraBold" pitchFamily="34" charset="-120"/>
              </a:rPr>
              <a:t>현재 구성한 시스템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078992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E6E73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위와 같은 배경과 필요성을 바탕으로, 대교홀딩스는 SMART 사업계획 관리 시스템을 구축했습니다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5943600" cy="3931920"/>
          </a:xfrm>
          <a:prstGeom prst="roundRect">
            <a:avLst>
              <a:gd name="adj" fmla="val 1395"/>
            </a:avLst>
          </a:prstGeom>
          <a:solidFill>
            <a:srgbClr val="FFFFFF"/>
          </a:solidFill>
          <a:ln w="12700">
            <a:solidFill>
              <a:srgbClr val="E5E5EA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691640"/>
            <a:ext cx="1737360" cy="3931920"/>
          </a:xfrm>
          <a:prstGeom prst="rect">
            <a:avLst/>
          </a:prstGeom>
          <a:solidFill>
            <a:srgbClr val="3A4356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1819656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anumGothicExtraBold" pitchFamily="34" charset="0"/>
                <a:ea typeface="NanumGothicExtraBold" pitchFamily="34" charset="-122"/>
                <a:cs typeface="NanumGothicExtraBold" pitchFamily="34" charset="-120"/>
              </a:rPr>
              <a:t>SMART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85800" y="2039112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7CCD6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대교홀딩스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658368" y="2432304"/>
            <a:ext cx="1517904" cy="310896"/>
          </a:xfrm>
          <a:prstGeom prst="roundRect">
            <a:avLst>
              <a:gd name="adj" fmla="val 14706"/>
            </a:avLst>
          </a:prstGeom>
          <a:solidFill>
            <a:srgbClr val="4A5570"/>
          </a:solidFill>
          <a:ln/>
        </p:spPr>
      </p:sp>
      <p:sp>
        <p:nvSpPr>
          <p:cNvPr id="10" name="Text 8"/>
          <p:cNvSpPr/>
          <p:nvPr/>
        </p:nvSpPr>
        <p:spPr>
          <a:xfrm>
            <a:off x="749808" y="246888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NanumGothicExtraBold" pitchFamily="34" charset="0"/>
                <a:ea typeface="NanumGothicExtraBold" pitchFamily="34" charset="-122"/>
                <a:cs typeface="NanumGothicExtraBold" pitchFamily="34" charset="-120"/>
              </a:rPr>
              <a:t>대시보드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749808" y="2852928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7CCD6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사업계획 목표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749808" y="3236976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7CCD6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진행실적 입력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749808" y="3621024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7CCD6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변경요청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2514600" y="19202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D1D1F"/>
                </a:solidFill>
                <a:latin typeface="NanumGothicExtraBold" pitchFamily="34" charset="0"/>
                <a:ea typeface="NanumGothicExtraBold" pitchFamily="34" charset="-122"/>
                <a:cs typeface="NanumGothicExtraBold" pitchFamily="34" charset="-120"/>
              </a:rPr>
              <a:t>대시보드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2514600" y="2423160"/>
            <a:ext cx="1199693" cy="146304"/>
          </a:xfrm>
          <a:prstGeom prst="roundRect">
            <a:avLst>
              <a:gd name="adj" fmla="val 18750"/>
            </a:avLst>
          </a:prstGeom>
          <a:solidFill>
            <a:srgbClr val="F5F5F7"/>
          </a:solidFill>
          <a:ln/>
        </p:spPr>
      </p:sp>
      <p:sp>
        <p:nvSpPr>
          <p:cNvPr id="16" name="Shape 14"/>
          <p:cNvSpPr/>
          <p:nvPr/>
        </p:nvSpPr>
        <p:spPr>
          <a:xfrm>
            <a:off x="2514600" y="2642616"/>
            <a:ext cx="2249424" cy="109728"/>
          </a:xfrm>
          <a:prstGeom prst="roundRect">
            <a:avLst>
              <a:gd name="adj" fmla="val 25000"/>
            </a:avLst>
          </a:prstGeom>
          <a:solidFill>
            <a:srgbClr val="F0F0F2"/>
          </a:solidFill>
          <a:ln/>
        </p:spPr>
      </p:sp>
      <p:sp>
        <p:nvSpPr>
          <p:cNvPr id="17" name="Shape 15"/>
          <p:cNvSpPr/>
          <p:nvPr/>
        </p:nvSpPr>
        <p:spPr>
          <a:xfrm>
            <a:off x="2514600" y="2990088"/>
            <a:ext cx="1199693" cy="146304"/>
          </a:xfrm>
          <a:prstGeom prst="roundRect">
            <a:avLst>
              <a:gd name="adj" fmla="val 18750"/>
            </a:avLst>
          </a:prstGeom>
          <a:solidFill>
            <a:srgbClr val="F5F5F7"/>
          </a:solidFill>
          <a:ln/>
        </p:spPr>
      </p:sp>
      <p:sp>
        <p:nvSpPr>
          <p:cNvPr id="18" name="Shape 16"/>
          <p:cNvSpPr/>
          <p:nvPr/>
        </p:nvSpPr>
        <p:spPr>
          <a:xfrm>
            <a:off x="2514600" y="3209544"/>
            <a:ext cx="2549347" cy="109728"/>
          </a:xfrm>
          <a:prstGeom prst="roundRect">
            <a:avLst>
              <a:gd name="adj" fmla="val 25000"/>
            </a:avLst>
          </a:prstGeom>
          <a:solidFill>
            <a:srgbClr val="F0F0F2"/>
          </a:solidFill>
          <a:ln/>
        </p:spPr>
      </p:sp>
      <p:sp>
        <p:nvSpPr>
          <p:cNvPr id="19" name="Shape 17"/>
          <p:cNvSpPr/>
          <p:nvPr/>
        </p:nvSpPr>
        <p:spPr>
          <a:xfrm>
            <a:off x="2514600" y="3557016"/>
            <a:ext cx="1199693" cy="146304"/>
          </a:xfrm>
          <a:prstGeom prst="roundRect">
            <a:avLst>
              <a:gd name="adj" fmla="val 18750"/>
            </a:avLst>
          </a:prstGeom>
          <a:solidFill>
            <a:srgbClr val="F5F5F7"/>
          </a:solidFill>
          <a:ln/>
        </p:spPr>
      </p:sp>
      <p:sp>
        <p:nvSpPr>
          <p:cNvPr id="20" name="Shape 18"/>
          <p:cNvSpPr/>
          <p:nvPr/>
        </p:nvSpPr>
        <p:spPr>
          <a:xfrm>
            <a:off x="2514600" y="3776472"/>
            <a:ext cx="2849270" cy="109728"/>
          </a:xfrm>
          <a:prstGeom prst="roundRect">
            <a:avLst>
              <a:gd name="adj" fmla="val 25000"/>
            </a:avLst>
          </a:prstGeom>
          <a:solidFill>
            <a:srgbClr val="F0F0F2"/>
          </a:solidFill>
          <a:ln/>
        </p:spPr>
      </p:sp>
      <p:sp>
        <p:nvSpPr>
          <p:cNvPr id="21" name="Shape 19"/>
          <p:cNvSpPr/>
          <p:nvPr/>
        </p:nvSpPr>
        <p:spPr>
          <a:xfrm>
            <a:off x="2514600" y="4123944"/>
            <a:ext cx="1199693" cy="146304"/>
          </a:xfrm>
          <a:prstGeom prst="roundRect">
            <a:avLst>
              <a:gd name="adj" fmla="val 18750"/>
            </a:avLst>
          </a:prstGeom>
          <a:solidFill>
            <a:srgbClr val="F5F5F7"/>
          </a:solidFill>
          <a:ln/>
        </p:spPr>
      </p:sp>
      <p:sp>
        <p:nvSpPr>
          <p:cNvPr id="22" name="Shape 20"/>
          <p:cNvSpPr/>
          <p:nvPr/>
        </p:nvSpPr>
        <p:spPr>
          <a:xfrm>
            <a:off x="2514600" y="4343400"/>
            <a:ext cx="2249424" cy="109728"/>
          </a:xfrm>
          <a:prstGeom prst="roundRect">
            <a:avLst>
              <a:gd name="adj" fmla="val 25000"/>
            </a:avLst>
          </a:prstGeom>
          <a:solidFill>
            <a:srgbClr val="F0F0F2"/>
          </a:solidFill>
          <a:ln/>
        </p:spPr>
      </p:sp>
      <p:sp>
        <p:nvSpPr>
          <p:cNvPr id="23" name="Shape 21"/>
          <p:cNvSpPr/>
          <p:nvPr/>
        </p:nvSpPr>
        <p:spPr>
          <a:xfrm>
            <a:off x="2514600" y="4690872"/>
            <a:ext cx="1199693" cy="146304"/>
          </a:xfrm>
          <a:prstGeom prst="roundRect">
            <a:avLst>
              <a:gd name="adj" fmla="val 18750"/>
            </a:avLst>
          </a:prstGeom>
          <a:solidFill>
            <a:srgbClr val="F5F5F7"/>
          </a:solidFill>
          <a:ln/>
        </p:spPr>
      </p:sp>
      <p:sp>
        <p:nvSpPr>
          <p:cNvPr id="24" name="Shape 22"/>
          <p:cNvSpPr/>
          <p:nvPr/>
        </p:nvSpPr>
        <p:spPr>
          <a:xfrm>
            <a:off x="2514600" y="4910328"/>
            <a:ext cx="2549347" cy="109728"/>
          </a:xfrm>
          <a:prstGeom prst="roundRect">
            <a:avLst>
              <a:gd name="adj" fmla="val 25000"/>
            </a:avLst>
          </a:prstGeom>
          <a:solidFill>
            <a:srgbClr val="F0F0F2"/>
          </a:solidFill>
          <a:ln/>
        </p:spPr>
      </p:sp>
      <p:sp>
        <p:nvSpPr>
          <p:cNvPr id="25" name="Shape 23"/>
          <p:cNvSpPr/>
          <p:nvPr/>
        </p:nvSpPr>
        <p:spPr>
          <a:xfrm>
            <a:off x="6858000" y="1783080"/>
            <a:ext cx="384048" cy="384048"/>
          </a:xfrm>
          <a:prstGeom prst="ellipse">
            <a:avLst/>
          </a:prstGeom>
          <a:solidFill>
            <a:srgbClr val="3A4356"/>
          </a:solidFill>
          <a:ln/>
        </p:spPr>
      </p:sp>
      <p:sp>
        <p:nvSpPr>
          <p:cNvPr id="26" name="Text 24"/>
          <p:cNvSpPr/>
          <p:nvPr/>
        </p:nvSpPr>
        <p:spPr>
          <a:xfrm>
            <a:off x="6858000" y="17830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anumGothicExtraBold" pitchFamily="34" charset="0"/>
                <a:ea typeface="NanumGothicExtraBold" pitchFamily="34" charset="-122"/>
                <a:cs typeface="NanumGothicExtraBold" pitchFamily="34" charset="-120"/>
              </a:rPr>
              <a:t>1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7360920" y="1645920"/>
            <a:ext cx="43251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D1D1F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목표 작성부터 실적 관리까지 한 화면에서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6858000" y="2834640"/>
            <a:ext cx="384048" cy="384048"/>
          </a:xfrm>
          <a:prstGeom prst="ellipse">
            <a:avLst/>
          </a:prstGeom>
          <a:solidFill>
            <a:srgbClr val="4C6FA5"/>
          </a:solidFill>
          <a:ln/>
        </p:spPr>
      </p:sp>
      <p:sp>
        <p:nvSpPr>
          <p:cNvPr id="29" name="Text 27"/>
          <p:cNvSpPr/>
          <p:nvPr/>
        </p:nvSpPr>
        <p:spPr>
          <a:xfrm>
            <a:off x="6858000" y="28346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anumGothicExtraBold" pitchFamily="34" charset="0"/>
                <a:ea typeface="NanumGothicExtraBold" pitchFamily="34" charset="-122"/>
                <a:cs typeface="NanumGothicExtraBold" pitchFamily="34" charset="-120"/>
              </a:rPr>
              <a:t>2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7360920" y="2697480"/>
            <a:ext cx="43251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D1D1F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실시간 대시보드로 전체 현황을 한눈에 파악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6858000" y="3886200"/>
            <a:ext cx="384048" cy="384048"/>
          </a:xfrm>
          <a:prstGeom prst="ellipse">
            <a:avLst/>
          </a:prstGeom>
          <a:solidFill>
            <a:srgbClr val="2F9E5B"/>
          </a:solidFill>
          <a:ln/>
        </p:spPr>
      </p:sp>
      <p:sp>
        <p:nvSpPr>
          <p:cNvPr id="32" name="Text 30"/>
          <p:cNvSpPr/>
          <p:nvPr/>
        </p:nvSpPr>
        <p:spPr>
          <a:xfrm>
            <a:off x="6858000" y="3886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anumGothicExtraBold" pitchFamily="34" charset="0"/>
                <a:ea typeface="NanumGothicExtraBold" pitchFamily="34" charset="-122"/>
                <a:cs typeface="NanumGothicExtraBold" pitchFamily="34" charset="-120"/>
              </a:rPr>
              <a:t>3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7360920" y="3749040"/>
            <a:ext cx="43251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D1D1F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마감 임박 시 이메일로 자동 알림 발송</a:t>
            </a:r>
            <a:endParaRPr lang="en-US" sz="1250" dirty="0"/>
          </a:p>
        </p:txBody>
      </p:sp>
      <p:sp>
        <p:nvSpPr>
          <p:cNvPr id="34" name="Shape 32"/>
          <p:cNvSpPr/>
          <p:nvPr/>
        </p:nvSpPr>
        <p:spPr>
          <a:xfrm>
            <a:off x="548640" y="5760720"/>
            <a:ext cx="11091672" cy="502920"/>
          </a:xfrm>
          <a:prstGeom prst="roundRect">
            <a:avLst>
              <a:gd name="adj" fmla="val 10909"/>
            </a:avLst>
          </a:prstGeom>
          <a:solidFill>
            <a:srgbClr val="EEF0F4"/>
          </a:solidFill>
          <a:ln/>
        </p:spPr>
      </p:sp>
      <p:sp>
        <p:nvSpPr>
          <p:cNvPr id="35" name="Text 33"/>
          <p:cNvSpPr/>
          <p:nvPr/>
        </p:nvSpPr>
        <p:spPr>
          <a:xfrm>
            <a:off x="777240" y="5760720"/>
            <a:ext cx="92628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A4356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다음 페이지부터는 실제 구축한 시스템의 화면과 사용법을 안내합니다.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10085832" y="576072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3A4356"/>
                </a:solidFill>
                <a:latin typeface="NanumGothicExtraBold" pitchFamily="34" charset="0"/>
                <a:ea typeface="NanumGothicExtraBold" pitchFamily="34" charset="-122"/>
                <a:cs typeface="NanumGothicExtraBold" pitchFamily="34" charset="-120"/>
              </a:rPr>
              <a:t>PART 2 →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3A435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645920"/>
            <a:ext cx="3840480" cy="3840480"/>
          </a:xfrm>
          <a:prstGeom prst="ellipse">
            <a:avLst/>
          </a:prstGeom>
          <a:solidFill>
            <a:srgbClr val="2C3342"/>
          </a:solidFill>
          <a:ln/>
        </p:spPr>
      </p:sp>
      <p:sp>
        <p:nvSpPr>
          <p:cNvPr id="3" name="Shape 1"/>
          <p:cNvSpPr/>
          <p:nvPr/>
        </p:nvSpPr>
        <p:spPr>
          <a:xfrm>
            <a:off x="-1463040" y="4754880"/>
            <a:ext cx="3291840" cy="3291840"/>
          </a:xfrm>
          <a:prstGeom prst="ellipse">
            <a:avLst/>
          </a:prstGeom>
          <a:solidFill>
            <a:srgbClr val="2C3342"/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640080"/>
            <a:ext cx="566928" cy="566928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6400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anumGothicExtraBold" pitchFamily="34" charset="0"/>
                <a:ea typeface="NanumGothicExtraBold" pitchFamily="34" charset="-122"/>
                <a:cs typeface="NanumGothicExtraBold" pitchFamily="34" charset="-120"/>
              </a:rPr>
              <a:t>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325880" y="658368"/>
            <a:ext cx="2743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anumGothicExtraBold" pitchFamily="34" charset="0"/>
                <a:ea typeface="NanumGothicExtraBold" pitchFamily="34" charset="-122"/>
                <a:cs typeface="NanumGothicExtraBold" pitchFamily="34" charset="-120"/>
              </a:rPr>
              <a:t>SMART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434072" y="77724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spc="100" kern="0" dirty="0">
                <a:solidFill>
                  <a:srgbClr val="9AA2B1"/>
                </a:solidFill>
                <a:latin typeface="NanumGothicExtraBold" pitchFamily="34" charset="0"/>
                <a:ea typeface="NanumGothicExtraBold" pitchFamily="34" charset="-122"/>
                <a:cs typeface="NanumGothicExtraBold" pitchFamily="34" charset="-120"/>
              </a:rPr>
              <a:t>PART 2 · 계열사 담당자를 위한 사용가이드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22960" y="2286000"/>
            <a:ext cx="105156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NanumGothicExtraBold" pitchFamily="34" charset="0"/>
                <a:ea typeface="NanumGothicExtraBold" pitchFamily="34" charset="-122"/>
                <a:cs typeface="NanumGothicExtraBold" pitchFamily="34" charset="-120"/>
              </a:rPr>
              <a:t>대교홀딩스 SMART 사업계획</a:t>
            </a:r>
            <a:endParaRPr lang="en-US" sz="40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NanumGothicExtraBold" pitchFamily="34" charset="0"/>
                <a:ea typeface="NanumGothicExtraBold" pitchFamily="34" charset="-122"/>
                <a:cs typeface="NanumGothicExtraBold" pitchFamily="34" charset="-120"/>
              </a:rPr>
              <a:t>관리 시스템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822960" y="397764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D7DBE3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계열사 담당자를 위한 사용 가이드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822960" y="59893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AA2B1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2026년 사업계획  ·  강원심층수 외 전 계열사 공통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D1D1F"/>
                </a:solidFill>
                <a:latin typeface="NanumGothicExtraBold" pitchFamily="34" charset="0"/>
                <a:ea typeface="NanumGothicExtraBold" pitchFamily="34" charset="-122"/>
                <a:cs typeface="NanumGothicExtraBold" pitchFamily="34" charset="-120"/>
              </a:rPr>
              <a:t>이 가이드가 다루는 내용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841248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E6E73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SMART 사업계획 시스템을 처음 쓰는 계열사 담당자를 위한 안내입니다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1091672" cy="96012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E5E5EA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1938528"/>
            <a:ext cx="457200" cy="457200"/>
          </a:xfrm>
          <a:prstGeom prst="ellipse">
            <a:avLst/>
          </a:prstGeom>
          <a:solidFill>
            <a:srgbClr val="3A4356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9385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anumGothicExtraBold" pitchFamily="34" charset="0"/>
                <a:ea typeface="NanumGothicExtraBold" pitchFamily="34" charset="-122"/>
                <a:cs typeface="NanumGothicExtraBold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600200" y="180136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D1D1F"/>
                </a:solidFill>
                <a:latin typeface="NanumGothicExtraBold" pitchFamily="34" charset="0"/>
                <a:ea typeface="NanumGothicExtraBold" pitchFamily="34" charset="-122"/>
                <a:cs typeface="NanumGothicExtraBold" pitchFamily="34" charset="-120"/>
              </a:rPr>
              <a:t>목적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600200" y="2148840"/>
            <a:ext cx="98115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E6E73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그룹사 SMART 사업계획 목표를 온라인으로 작성 · 제출 · 승인 · 진행실적 관리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48640" y="2834640"/>
            <a:ext cx="11091672" cy="96012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E5E5EA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868680" y="3081528"/>
            <a:ext cx="457200" cy="457200"/>
          </a:xfrm>
          <a:prstGeom prst="ellipse">
            <a:avLst/>
          </a:prstGeom>
          <a:solidFill>
            <a:srgbClr val="4C6FA5"/>
          </a:solidFill>
          <a:ln/>
        </p:spPr>
      </p:sp>
      <p:sp>
        <p:nvSpPr>
          <p:cNvPr id="11" name="Text 9"/>
          <p:cNvSpPr/>
          <p:nvPr/>
        </p:nvSpPr>
        <p:spPr>
          <a:xfrm>
            <a:off x="868680" y="30815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anumGothicExtraBold" pitchFamily="34" charset="0"/>
                <a:ea typeface="NanumGothicExtraBold" pitchFamily="34" charset="-122"/>
                <a:cs typeface="NanumGothicExtraBold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600200" y="294436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D1D1F"/>
                </a:solidFill>
                <a:latin typeface="NanumGothicExtraBold" pitchFamily="34" charset="0"/>
                <a:ea typeface="NanumGothicExtraBold" pitchFamily="34" charset="-122"/>
                <a:cs typeface="NanumGothicExtraBold" pitchFamily="34" charset="-120"/>
              </a:rPr>
              <a:t>대상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600200" y="3291840"/>
            <a:ext cx="98115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E6E73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전 계열사(강원심층수, 크리스탈, 미머디, 에듀캠프, 대교D&amp;S, 대교CNS 등) 실무 담당자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3977640"/>
            <a:ext cx="11091672" cy="96012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E5E5EA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68680" y="4224528"/>
            <a:ext cx="457200" cy="457200"/>
          </a:xfrm>
          <a:prstGeom prst="ellipse">
            <a:avLst/>
          </a:prstGeom>
          <a:solidFill>
            <a:srgbClr val="2F9E5B"/>
          </a:solidFill>
          <a:ln/>
        </p:spPr>
      </p:sp>
      <p:sp>
        <p:nvSpPr>
          <p:cNvPr id="16" name="Text 14"/>
          <p:cNvSpPr/>
          <p:nvPr/>
        </p:nvSpPr>
        <p:spPr>
          <a:xfrm>
            <a:off x="868680" y="42245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anumGothicExtraBold" pitchFamily="34" charset="0"/>
                <a:ea typeface="NanumGothicExtraBold" pitchFamily="34" charset="-122"/>
                <a:cs typeface="NanumGothicExtraBold" pitchFamily="34" charset="-120"/>
              </a:rPr>
              <a:t>3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600200" y="408736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D1D1F"/>
                </a:solidFill>
                <a:latin typeface="NanumGothicExtraBold" pitchFamily="34" charset="0"/>
                <a:ea typeface="NanumGothicExtraBold" pitchFamily="34" charset="-122"/>
                <a:cs typeface="NanumGothicExtraBold" pitchFamily="34" charset="-120"/>
              </a:rPr>
              <a:t>접속 주소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600200" y="4434840"/>
            <a:ext cx="98115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E6E73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https://smart.jini0828.workers.dev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548640" y="5120640"/>
            <a:ext cx="11091672" cy="96012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E5E5EA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868680" y="5367528"/>
            <a:ext cx="457200" cy="457200"/>
          </a:xfrm>
          <a:prstGeom prst="ellipse">
            <a:avLst/>
          </a:prstGeom>
          <a:solidFill>
            <a:srgbClr val="C98A1F"/>
          </a:solidFill>
          <a:ln/>
        </p:spPr>
      </p:sp>
      <p:sp>
        <p:nvSpPr>
          <p:cNvPr id="21" name="Text 19"/>
          <p:cNvSpPr/>
          <p:nvPr/>
        </p:nvSpPr>
        <p:spPr>
          <a:xfrm>
            <a:off x="868680" y="53675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anumGothicExtraBold" pitchFamily="34" charset="0"/>
                <a:ea typeface="NanumGothicExtraBold" pitchFamily="34" charset="-122"/>
                <a:cs typeface="NanumGothicExtraBold" pitchFamily="34" charset="-120"/>
              </a:rPr>
              <a:t>4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600200" y="523036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D1D1F"/>
                </a:solidFill>
                <a:latin typeface="NanumGothicExtraBold" pitchFamily="34" charset="0"/>
                <a:ea typeface="NanumGothicExtraBold" pitchFamily="34" charset="-122"/>
                <a:cs typeface="NanumGothicExtraBold" pitchFamily="34" charset="-120"/>
              </a:rPr>
              <a:t>로그인 계정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600200" y="5577840"/>
            <a:ext cx="98115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E6E73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회사 이메일(@daekyo.co.kr) 기반 개인 계정 — 계정당 소속 회사의 목표만 조회/입력 가능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1A1A6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대교홀딩스 SMART 사업계획 관리 시스템 · 계열사 담당자 가이드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1A1A6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D1D1F"/>
                </a:solidFill>
                <a:latin typeface="NanumGothicExtraBold" pitchFamily="34" charset="0"/>
                <a:ea typeface="NanumGothicExtraBold" pitchFamily="34" charset="-122"/>
                <a:cs typeface="NanumGothicExtraBold" pitchFamily="34" charset="-120"/>
              </a:rPr>
              <a:t>1. 로그인 방법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841248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E6E73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회사 이메일 계정으로 로그인합니다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6035040" cy="4480560"/>
          </a:xfrm>
          <a:prstGeom prst="roundRect">
            <a:avLst>
              <a:gd name="adj" fmla="val 1224"/>
            </a:avLst>
          </a:prstGeom>
          <a:solidFill>
            <a:srgbClr val="FFFFFF"/>
          </a:solidFill>
          <a:ln w="12700">
            <a:solidFill>
              <a:srgbClr val="E5E5EA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097280" y="201168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D1D1F"/>
                </a:solidFill>
                <a:latin typeface="NanumGothicExtraBold" pitchFamily="34" charset="0"/>
                <a:ea typeface="NanumGothicExtraBold" pitchFamily="34" charset="-122"/>
                <a:cs typeface="NanumGothicExtraBold" pitchFamily="34" charset="-120"/>
              </a:rPr>
              <a:t>대교홀딩스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97280" y="233172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6E73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SMART 기반 사업계획 관리 시스템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1371600" y="29718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E6E73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이메일 (@daekyo.co.kr)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1371600" y="3246120"/>
            <a:ext cx="4572000" cy="411480"/>
          </a:xfrm>
          <a:prstGeom prst="roundRect">
            <a:avLst>
              <a:gd name="adj" fmla="val 13333"/>
            </a:avLst>
          </a:prstGeom>
          <a:solidFill>
            <a:srgbClr val="F5F5F7"/>
          </a:solidFill>
          <a:ln w="12700">
            <a:solidFill>
              <a:srgbClr val="E5E5E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08760" y="3246120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1A1A6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name@daekyo.co.kr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371600" y="38404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E6E73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비밀번호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1371600" y="4114800"/>
            <a:ext cx="4572000" cy="411480"/>
          </a:xfrm>
          <a:prstGeom prst="roundRect">
            <a:avLst>
              <a:gd name="adj" fmla="val 13333"/>
            </a:avLst>
          </a:prstGeom>
          <a:solidFill>
            <a:srgbClr val="F5F5F7"/>
          </a:solidFill>
          <a:ln w="12700">
            <a:solidFill>
              <a:srgbClr val="E5E5E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508760" y="4114800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1371600" y="4846320"/>
            <a:ext cx="4572000" cy="457200"/>
          </a:xfrm>
          <a:prstGeom prst="roundRect">
            <a:avLst>
              <a:gd name="adj" fmla="val 14000"/>
            </a:avLst>
          </a:prstGeom>
          <a:solidFill>
            <a:srgbClr val="3A4356"/>
          </a:solidFill>
          <a:ln/>
        </p:spPr>
      </p:sp>
      <p:sp>
        <p:nvSpPr>
          <p:cNvPr id="14" name="Text 12"/>
          <p:cNvSpPr/>
          <p:nvPr/>
        </p:nvSpPr>
        <p:spPr>
          <a:xfrm>
            <a:off x="1371600" y="48463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NanumGothicExtraBold" pitchFamily="34" charset="0"/>
                <a:ea typeface="NanumGothicExtraBold" pitchFamily="34" charset="-122"/>
                <a:cs typeface="NanumGothicExtraBold" pitchFamily="34" charset="-120"/>
              </a:rPr>
              <a:t>로그인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1371600" y="544068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A1A1A6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계정은 대교홀딩스 관리자가 초대(invite)한 @daekyo.co.kr 이메일로만 생성됩니다. 계정이 없다면 지주사 담당자에게 문의해주세요.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6995160" y="1737360"/>
            <a:ext cx="109728" cy="822960"/>
          </a:xfrm>
          <a:prstGeom prst="rect">
            <a:avLst/>
          </a:prstGeom>
          <a:solidFill>
            <a:srgbClr val="4C6FA5"/>
          </a:solidFill>
          <a:ln/>
        </p:spPr>
      </p:sp>
      <p:sp>
        <p:nvSpPr>
          <p:cNvPr id="17" name="Shape 15"/>
          <p:cNvSpPr/>
          <p:nvPr/>
        </p:nvSpPr>
        <p:spPr>
          <a:xfrm>
            <a:off x="7104888" y="1737360"/>
            <a:ext cx="4507992" cy="82296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E5E5E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269480" y="1810512"/>
            <a:ext cx="4233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D1D1F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회사 이메일(@daekyo.co.kr)로만 로그인할 수 있습니다.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995160" y="2788920"/>
            <a:ext cx="109728" cy="822960"/>
          </a:xfrm>
          <a:prstGeom prst="rect">
            <a:avLst/>
          </a:prstGeom>
          <a:solidFill>
            <a:srgbClr val="C98A1F"/>
          </a:solidFill>
          <a:ln/>
        </p:spPr>
      </p:sp>
      <p:sp>
        <p:nvSpPr>
          <p:cNvPr id="20" name="Shape 18"/>
          <p:cNvSpPr/>
          <p:nvPr/>
        </p:nvSpPr>
        <p:spPr>
          <a:xfrm>
            <a:off x="7104888" y="2788920"/>
            <a:ext cx="4507992" cy="82296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E5E5E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269480" y="2862072"/>
            <a:ext cx="4233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D1D1F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비밀번호 재설정 메뉴는 없으므로, 비밀번호를 잊었다면 지주사 담당자에게 문의해 재발급받으세요.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6995160" y="3840480"/>
            <a:ext cx="109728" cy="822960"/>
          </a:xfrm>
          <a:prstGeom prst="rect">
            <a:avLst/>
          </a:prstGeom>
          <a:solidFill>
            <a:srgbClr val="2F9E5B"/>
          </a:solidFill>
          <a:ln/>
        </p:spPr>
      </p:sp>
      <p:sp>
        <p:nvSpPr>
          <p:cNvPr id="23" name="Shape 21"/>
          <p:cNvSpPr/>
          <p:nvPr/>
        </p:nvSpPr>
        <p:spPr>
          <a:xfrm>
            <a:off x="7104888" y="3840480"/>
            <a:ext cx="4507992" cy="82296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E5E5E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269480" y="3913632"/>
            <a:ext cx="4233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D1D1F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로그인하면 자동으로 소속 회사의 목표만 표시됩니다. 다른 회사 데이터는 보이지 않습니다.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1A1A6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대교홀딩스 SMART 사업계획 관리 시스템 · 계열사 담당자 가이드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1A1A6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D1D1F"/>
                </a:solidFill>
                <a:latin typeface="NanumGothicExtraBold" pitchFamily="34" charset="0"/>
                <a:ea typeface="NanumGothicExtraBold" pitchFamily="34" charset="-122"/>
                <a:cs typeface="NanumGothicExtraBold" pitchFamily="34" charset="-120"/>
              </a:rPr>
              <a:t>2. 전체 화면 구성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841248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E6E73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왼쪽 사이드바에서 네 가지 메뉴로 이동합니다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5852160" cy="4572000"/>
          </a:xfrm>
          <a:prstGeom prst="roundRect">
            <a:avLst>
              <a:gd name="adj" fmla="val 1200"/>
            </a:avLst>
          </a:prstGeom>
          <a:solidFill>
            <a:srgbClr val="FFFFFF"/>
          </a:solidFill>
          <a:ln w="12700">
            <a:solidFill>
              <a:srgbClr val="E5E5EA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600200"/>
            <a:ext cx="1737360" cy="4572000"/>
          </a:xfrm>
          <a:prstGeom prst="rect">
            <a:avLst/>
          </a:prstGeom>
          <a:solidFill>
            <a:srgbClr val="3A4356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728216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anumGothicExtraBold" pitchFamily="34" charset="0"/>
                <a:ea typeface="NanumGothicExtraBold" pitchFamily="34" charset="-122"/>
                <a:cs typeface="NanumGothicExtraBold" pitchFamily="34" charset="-120"/>
              </a:rPr>
              <a:t>SMART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77240" y="1947672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7CCD6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대교홀딩스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41248" y="237744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7CCD6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대시보드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749808" y="2724912"/>
            <a:ext cx="1517904" cy="310896"/>
          </a:xfrm>
          <a:prstGeom prst="roundRect">
            <a:avLst>
              <a:gd name="adj" fmla="val 14706"/>
            </a:avLst>
          </a:prstGeom>
          <a:solidFill>
            <a:srgbClr val="4A5570"/>
          </a:solidFill>
          <a:ln/>
        </p:spPr>
      </p:sp>
      <p:sp>
        <p:nvSpPr>
          <p:cNvPr id="10" name="Text 8"/>
          <p:cNvSpPr/>
          <p:nvPr/>
        </p:nvSpPr>
        <p:spPr>
          <a:xfrm>
            <a:off x="841248" y="2761488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NanumGothicExtraBold" pitchFamily="34" charset="0"/>
                <a:ea typeface="NanumGothicExtraBold" pitchFamily="34" charset="-122"/>
                <a:cs typeface="NanumGothicExtraBold" pitchFamily="34" charset="-120"/>
              </a:rPr>
              <a:t>사업계획 목표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841248" y="3145536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7CCD6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진행실적 입력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841248" y="3529584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7CCD6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변경요청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2606040" y="1828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D1D1F"/>
                </a:solidFill>
                <a:latin typeface="NanumGothicExtraBold" pitchFamily="34" charset="0"/>
                <a:ea typeface="NanumGothicExtraBold" pitchFamily="34" charset="-122"/>
                <a:cs typeface="NanumGothicExtraBold" pitchFamily="34" charset="-120"/>
              </a:rPr>
              <a:t>2026년 사업계획 목표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2606040" y="2331720"/>
            <a:ext cx="1170432" cy="146304"/>
          </a:xfrm>
          <a:prstGeom prst="roundRect">
            <a:avLst>
              <a:gd name="adj" fmla="val 18750"/>
            </a:avLst>
          </a:prstGeom>
          <a:solidFill>
            <a:srgbClr val="F5F5F7"/>
          </a:solidFill>
          <a:ln/>
        </p:spPr>
      </p:sp>
      <p:sp>
        <p:nvSpPr>
          <p:cNvPr id="15" name="Shape 13"/>
          <p:cNvSpPr/>
          <p:nvPr/>
        </p:nvSpPr>
        <p:spPr>
          <a:xfrm>
            <a:off x="2606040" y="2551176"/>
            <a:ext cx="2194560" cy="109728"/>
          </a:xfrm>
          <a:prstGeom prst="roundRect">
            <a:avLst>
              <a:gd name="adj" fmla="val 25000"/>
            </a:avLst>
          </a:prstGeom>
          <a:solidFill>
            <a:srgbClr val="F0F0F2"/>
          </a:solidFill>
          <a:ln/>
        </p:spPr>
      </p:sp>
      <p:sp>
        <p:nvSpPr>
          <p:cNvPr id="16" name="Shape 14"/>
          <p:cNvSpPr/>
          <p:nvPr/>
        </p:nvSpPr>
        <p:spPr>
          <a:xfrm>
            <a:off x="2606040" y="2898648"/>
            <a:ext cx="1170432" cy="146304"/>
          </a:xfrm>
          <a:prstGeom prst="roundRect">
            <a:avLst>
              <a:gd name="adj" fmla="val 18750"/>
            </a:avLst>
          </a:prstGeom>
          <a:solidFill>
            <a:srgbClr val="F5F5F7"/>
          </a:solidFill>
          <a:ln/>
        </p:spPr>
      </p:sp>
      <p:sp>
        <p:nvSpPr>
          <p:cNvPr id="17" name="Shape 15"/>
          <p:cNvSpPr/>
          <p:nvPr/>
        </p:nvSpPr>
        <p:spPr>
          <a:xfrm>
            <a:off x="2606040" y="3118104"/>
            <a:ext cx="2487168" cy="109728"/>
          </a:xfrm>
          <a:prstGeom prst="roundRect">
            <a:avLst>
              <a:gd name="adj" fmla="val 25000"/>
            </a:avLst>
          </a:prstGeom>
          <a:solidFill>
            <a:srgbClr val="F0F0F2"/>
          </a:solidFill>
          <a:ln/>
        </p:spPr>
      </p:sp>
      <p:sp>
        <p:nvSpPr>
          <p:cNvPr id="18" name="Shape 16"/>
          <p:cNvSpPr/>
          <p:nvPr/>
        </p:nvSpPr>
        <p:spPr>
          <a:xfrm>
            <a:off x="2606040" y="3465576"/>
            <a:ext cx="1170432" cy="146304"/>
          </a:xfrm>
          <a:prstGeom prst="roundRect">
            <a:avLst>
              <a:gd name="adj" fmla="val 18750"/>
            </a:avLst>
          </a:prstGeom>
          <a:solidFill>
            <a:srgbClr val="F5F5F7"/>
          </a:solidFill>
          <a:ln/>
        </p:spPr>
      </p:sp>
      <p:sp>
        <p:nvSpPr>
          <p:cNvPr id="19" name="Shape 17"/>
          <p:cNvSpPr/>
          <p:nvPr/>
        </p:nvSpPr>
        <p:spPr>
          <a:xfrm>
            <a:off x="2606040" y="3685032"/>
            <a:ext cx="2779776" cy="109728"/>
          </a:xfrm>
          <a:prstGeom prst="roundRect">
            <a:avLst>
              <a:gd name="adj" fmla="val 25000"/>
            </a:avLst>
          </a:prstGeom>
          <a:solidFill>
            <a:srgbClr val="F0F0F2"/>
          </a:solidFill>
          <a:ln/>
        </p:spPr>
      </p:sp>
      <p:sp>
        <p:nvSpPr>
          <p:cNvPr id="20" name="Shape 18"/>
          <p:cNvSpPr/>
          <p:nvPr/>
        </p:nvSpPr>
        <p:spPr>
          <a:xfrm>
            <a:off x="2606040" y="4032504"/>
            <a:ext cx="1170432" cy="146304"/>
          </a:xfrm>
          <a:prstGeom prst="roundRect">
            <a:avLst>
              <a:gd name="adj" fmla="val 18750"/>
            </a:avLst>
          </a:prstGeom>
          <a:solidFill>
            <a:srgbClr val="F5F5F7"/>
          </a:solidFill>
          <a:ln/>
        </p:spPr>
      </p:sp>
      <p:sp>
        <p:nvSpPr>
          <p:cNvPr id="21" name="Shape 19"/>
          <p:cNvSpPr/>
          <p:nvPr/>
        </p:nvSpPr>
        <p:spPr>
          <a:xfrm>
            <a:off x="2606040" y="4251960"/>
            <a:ext cx="2194560" cy="109728"/>
          </a:xfrm>
          <a:prstGeom prst="roundRect">
            <a:avLst>
              <a:gd name="adj" fmla="val 25000"/>
            </a:avLst>
          </a:prstGeom>
          <a:solidFill>
            <a:srgbClr val="F0F0F2"/>
          </a:solidFill>
          <a:ln/>
        </p:spPr>
      </p:sp>
      <p:sp>
        <p:nvSpPr>
          <p:cNvPr id="22" name="Shape 20"/>
          <p:cNvSpPr/>
          <p:nvPr/>
        </p:nvSpPr>
        <p:spPr>
          <a:xfrm>
            <a:off x="2606040" y="4599432"/>
            <a:ext cx="1170432" cy="146304"/>
          </a:xfrm>
          <a:prstGeom prst="roundRect">
            <a:avLst>
              <a:gd name="adj" fmla="val 18750"/>
            </a:avLst>
          </a:prstGeom>
          <a:solidFill>
            <a:srgbClr val="F5F5F7"/>
          </a:solidFill>
          <a:ln/>
        </p:spPr>
      </p:sp>
      <p:sp>
        <p:nvSpPr>
          <p:cNvPr id="23" name="Shape 21"/>
          <p:cNvSpPr/>
          <p:nvPr/>
        </p:nvSpPr>
        <p:spPr>
          <a:xfrm>
            <a:off x="2606040" y="4818888"/>
            <a:ext cx="2487168" cy="109728"/>
          </a:xfrm>
          <a:prstGeom prst="roundRect">
            <a:avLst>
              <a:gd name="adj" fmla="val 25000"/>
            </a:avLst>
          </a:prstGeom>
          <a:solidFill>
            <a:srgbClr val="F0F0F2"/>
          </a:solidFill>
          <a:ln/>
        </p:spPr>
      </p:sp>
      <p:sp>
        <p:nvSpPr>
          <p:cNvPr id="24" name="Shape 22"/>
          <p:cNvSpPr/>
          <p:nvPr/>
        </p:nvSpPr>
        <p:spPr>
          <a:xfrm>
            <a:off x="6766560" y="1645920"/>
            <a:ext cx="4828032" cy="96012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E5E5EA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995160" y="1892808"/>
            <a:ext cx="457200" cy="457200"/>
          </a:xfrm>
          <a:prstGeom prst="ellipse">
            <a:avLst/>
          </a:prstGeom>
          <a:solidFill>
            <a:srgbClr val="3A4356"/>
          </a:solidFill>
          <a:ln/>
        </p:spPr>
      </p:sp>
      <p:sp>
        <p:nvSpPr>
          <p:cNvPr id="26" name="Text 24"/>
          <p:cNvSpPr/>
          <p:nvPr/>
        </p:nvSpPr>
        <p:spPr>
          <a:xfrm>
            <a:off x="6995160" y="18928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anumGothicExtraBold" pitchFamily="34" charset="0"/>
                <a:ea typeface="NanumGothicExtraBold" pitchFamily="34" charset="-122"/>
                <a:cs typeface="NanumGothicExtraBold" pitchFamily="34" charset="-120"/>
              </a:rPr>
              <a:t>1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7726680" y="1755648"/>
            <a:ext cx="37764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D1D1F"/>
                </a:solidFill>
                <a:latin typeface="NanumGothicExtraBold" pitchFamily="34" charset="0"/>
                <a:ea typeface="NanumGothicExtraBold" pitchFamily="34" charset="-122"/>
                <a:cs typeface="NanumGothicExtraBold" pitchFamily="34" charset="-120"/>
              </a:rPr>
              <a:t>대시보드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7726680" y="2084832"/>
            <a:ext cx="3776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E6E73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우리 회사 목표 현황을 요약 · 위험 신호와 함께 한눈에 확인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6766560" y="2788920"/>
            <a:ext cx="4828032" cy="96012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E5E5EA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995160" y="3035808"/>
            <a:ext cx="457200" cy="457200"/>
          </a:xfrm>
          <a:prstGeom prst="ellipse">
            <a:avLst/>
          </a:prstGeom>
          <a:solidFill>
            <a:srgbClr val="4C6FA5"/>
          </a:solidFill>
          <a:ln/>
        </p:spPr>
      </p:sp>
      <p:sp>
        <p:nvSpPr>
          <p:cNvPr id="31" name="Text 29"/>
          <p:cNvSpPr/>
          <p:nvPr/>
        </p:nvSpPr>
        <p:spPr>
          <a:xfrm>
            <a:off x="6995160" y="30358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anumGothicExtraBold" pitchFamily="34" charset="0"/>
                <a:ea typeface="NanumGothicExtraBold" pitchFamily="34" charset="-122"/>
                <a:cs typeface="NanumGothicExtraBold" pitchFamily="34" charset="-120"/>
              </a:rPr>
              <a:t>2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7726680" y="2898648"/>
            <a:ext cx="37764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D1D1F"/>
                </a:solidFill>
                <a:latin typeface="NanumGothicExtraBold" pitchFamily="34" charset="0"/>
                <a:ea typeface="NanumGothicExtraBold" pitchFamily="34" charset="-122"/>
                <a:cs typeface="NanumGothicExtraBold" pitchFamily="34" charset="-120"/>
              </a:rPr>
              <a:t>사업계획 목표</a:t>
            </a:r>
            <a:endParaRPr lang="en-US" sz="1350" dirty="0"/>
          </a:p>
        </p:txBody>
      </p:sp>
      <p:sp>
        <p:nvSpPr>
          <p:cNvPr id="33" name="Text 31"/>
          <p:cNvSpPr/>
          <p:nvPr/>
        </p:nvSpPr>
        <p:spPr>
          <a:xfrm>
            <a:off x="7726680" y="3227832"/>
            <a:ext cx="3776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E6E73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SMART 목표를 새로 작성하거나 목록에서 조회 · 수정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6766560" y="3931920"/>
            <a:ext cx="4828032" cy="96012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E5E5EA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6995160" y="4178808"/>
            <a:ext cx="457200" cy="457200"/>
          </a:xfrm>
          <a:prstGeom prst="ellipse">
            <a:avLst/>
          </a:prstGeom>
          <a:solidFill>
            <a:srgbClr val="2F9E5B"/>
          </a:solidFill>
          <a:ln/>
        </p:spPr>
      </p:sp>
      <p:sp>
        <p:nvSpPr>
          <p:cNvPr id="36" name="Text 34"/>
          <p:cNvSpPr/>
          <p:nvPr/>
        </p:nvSpPr>
        <p:spPr>
          <a:xfrm>
            <a:off x="6995160" y="41788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anumGothicExtraBold" pitchFamily="34" charset="0"/>
                <a:ea typeface="NanumGothicExtraBold" pitchFamily="34" charset="-122"/>
                <a:cs typeface="NanumGothicExtraBold" pitchFamily="34" charset="-120"/>
              </a:rPr>
              <a:t>3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7726680" y="4041648"/>
            <a:ext cx="37764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D1D1F"/>
                </a:solidFill>
                <a:latin typeface="NanumGothicExtraBold" pitchFamily="34" charset="0"/>
                <a:ea typeface="NanumGothicExtraBold" pitchFamily="34" charset="-122"/>
                <a:cs typeface="NanumGothicExtraBold" pitchFamily="34" charset="-120"/>
              </a:rPr>
              <a:t>진행실적 입력</a:t>
            </a:r>
            <a:endParaRPr lang="en-US" sz="1350" dirty="0"/>
          </a:p>
        </p:txBody>
      </p:sp>
      <p:sp>
        <p:nvSpPr>
          <p:cNvPr id="38" name="Text 36"/>
          <p:cNvSpPr/>
          <p:nvPr/>
        </p:nvSpPr>
        <p:spPr>
          <a:xfrm>
            <a:off x="7726680" y="4370832"/>
            <a:ext cx="3776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E6E73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월별 · 분기별 KPI 실적을 지표별로 입력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6766560" y="5074920"/>
            <a:ext cx="4828032" cy="96012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E5E5EA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6995160" y="5321808"/>
            <a:ext cx="457200" cy="457200"/>
          </a:xfrm>
          <a:prstGeom prst="ellipse">
            <a:avLst/>
          </a:prstGeom>
          <a:solidFill>
            <a:srgbClr val="C98A1F"/>
          </a:solidFill>
          <a:ln/>
        </p:spPr>
      </p:sp>
      <p:sp>
        <p:nvSpPr>
          <p:cNvPr id="41" name="Text 39"/>
          <p:cNvSpPr/>
          <p:nvPr/>
        </p:nvSpPr>
        <p:spPr>
          <a:xfrm>
            <a:off x="6995160" y="53218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anumGothicExtraBold" pitchFamily="34" charset="0"/>
                <a:ea typeface="NanumGothicExtraBold" pitchFamily="34" charset="-122"/>
                <a:cs typeface="NanumGothicExtraBold" pitchFamily="34" charset="-120"/>
              </a:rPr>
              <a:t>4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7726680" y="5184648"/>
            <a:ext cx="37764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D1D1F"/>
                </a:solidFill>
                <a:latin typeface="NanumGothicExtraBold" pitchFamily="34" charset="0"/>
                <a:ea typeface="NanumGothicExtraBold" pitchFamily="34" charset="-122"/>
                <a:cs typeface="NanumGothicExtraBold" pitchFamily="34" charset="-120"/>
              </a:rPr>
              <a:t>변경요청</a:t>
            </a:r>
            <a:endParaRPr lang="en-US" sz="1350" dirty="0"/>
          </a:p>
        </p:txBody>
      </p:sp>
      <p:sp>
        <p:nvSpPr>
          <p:cNvPr id="43" name="Text 41"/>
          <p:cNvSpPr/>
          <p:nvPr/>
        </p:nvSpPr>
        <p:spPr>
          <a:xfrm>
            <a:off x="7726680" y="5513832"/>
            <a:ext cx="3776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E6E73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이미 승인된 목표를 수정해야 할 때 변경을 요청</a:t>
            </a:r>
            <a:endParaRPr lang="en-US" sz="1050" dirty="0"/>
          </a:p>
        </p:txBody>
      </p:sp>
      <p:sp>
        <p:nvSpPr>
          <p:cNvPr id="44" name="Text 42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1A1A6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대교홀딩스 SMART 사업계획 관리 시스템 · 계열사 담당자 가이드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1A1A6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D1D1F"/>
                </a:solidFill>
                <a:latin typeface="NanumGothicExtraBold" pitchFamily="34" charset="0"/>
                <a:ea typeface="NanumGothicExtraBold" pitchFamily="34" charset="-122"/>
                <a:cs typeface="NanumGothicExtraBold" pitchFamily="34" charset="-120"/>
              </a:rPr>
              <a:t>3. 업무 흐름 한눈에 보기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841248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E6E73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목표 작성부터 실적 관리까지 전체 흐름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48640" y="2148840"/>
            <a:ext cx="1691640" cy="1371600"/>
          </a:xfrm>
          <a:prstGeom prst="roundRect">
            <a:avLst>
              <a:gd name="adj" fmla="val 4667"/>
            </a:avLst>
          </a:prstGeom>
          <a:solidFill>
            <a:srgbClr val="FFFFFF"/>
          </a:solidFill>
          <a:ln w="12700">
            <a:solidFill>
              <a:srgbClr val="E5E5EA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85800" y="2313432"/>
            <a:ext cx="1417320" cy="310896"/>
          </a:xfrm>
          <a:prstGeom prst="roundRect">
            <a:avLst>
              <a:gd name="adj" fmla="val 50000"/>
            </a:avLst>
          </a:prstGeom>
          <a:solidFill>
            <a:srgbClr val="F0F0F2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2313432"/>
            <a:ext cx="1417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E6E73"/>
                </a:solidFill>
                <a:latin typeface="NanumGothicExtraBold" pitchFamily="34" charset="0"/>
                <a:ea typeface="NanumGothicExtraBold" pitchFamily="34" charset="-122"/>
                <a:cs typeface="NanumGothicExtraBold" pitchFamily="34" charset="-120"/>
              </a:rPr>
              <a:t>임시저장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40080" y="2752344"/>
            <a:ext cx="1508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D1D1F"/>
                </a:solidFill>
                <a:latin typeface="NanumGothicExtraBold" pitchFamily="34" charset="0"/>
                <a:ea typeface="NanumGothicExtraBold" pitchFamily="34" charset="-122"/>
                <a:cs typeface="NanumGothicExtraBold" pitchFamily="34" charset="-120"/>
              </a:rPr>
              <a:t>목표 작성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2240280" y="2606040"/>
            <a:ext cx="22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A1A1A6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→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2468880" y="2148840"/>
            <a:ext cx="1691640" cy="1371600"/>
          </a:xfrm>
          <a:prstGeom prst="roundRect">
            <a:avLst>
              <a:gd name="adj" fmla="val 4667"/>
            </a:avLst>
          </a:prstGeom>
          <a:solidFill>
            <a:srgbClr val="FFFFFF"/>
          </a:solidFill>
          <a:ln w="12700">
            <a:solidFill>
              <a:srgbClr val="E5E5EA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606040" y="2313432"/>
            <a:ext cx="1417320" cy="310896"/>
          </a:xfrm>
          <a:prstGeom prst="roundRect">
            <a:avLst>
              <a:gd name="adj" fmla="val 50000"/>
            </a:avLst>
          </a:prstGeom>
          <a:solidFill>
            <a:srgbClr val="EAF0F8"/>
          </a:solidFill>
          <a:ln/>
        </p:spPr>
      </p:sp>
      <p:sp>
        <p:nvSpPr>
          <p:cNvPr id="11" name="Text 9"/>
          <p:cNvSpPr/>
          <p:nvPr/>
        </p:nvSpPr>
        <p:spPr>
          <a:xfrm>
            <a:off x="2606040" y="2313432"/>
            <a:ext cx="1417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C6FA5"/>
                </a:solidFill>
                <a:latin typeface="NanumGothicExtraBold" pitchFamily="34" charset="0"/>
                <a:ea typeface="NanumGothicExtraBold" pitchFamily="34" charset="-122"/>
                <a:cs typeface="NanumGothicExtraBold" pitchFamily="34" charset="-120"/>
              </a:rPr>
              <a:t>제출됨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2560320" y="2752344"/>
            <a:ext cx="1508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D1D1F"/>
                </a:solidFill>
                <a:latin typeface="NanumGothicExtraBold" pitchFamily="34" charset="0"/>
                <a:ea typeface="NanumGothicExtraBold" pitchFamily="34" charset="-122"/>
                <a:cs typeface="NanumGothicExtraBold" pitchFamily="34" charset="-120"/>
              </a:rPr>
              <a:t>검토 제출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4160520" y="2606040"/>
            <a:ext cx="22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A1A1A6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→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4389120" y="2148840"/>
            <a:ext cx="1691640" cy="1371600"/>
          </a:xfrm>
          <a:prstGeom prst="roundRect">
            <a:avLst>
              <a:gd name="adj" fmla="val 4667"/>
            </a:avLst>
          </a:prstGeom>
          <a:solidFill>
            <a:srgbClr val="FFFFFF"/>
          </a:solidFill>
          <a:ln w="12700">
            <a:solidFill>
              <a:srgbClr val="E5E5EA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526280" y="2313432"/>
            <a:ext cx="1417320" cy="310896"/>
          </a:xfrm>
          <a:prstGeom prst="roundRect">
            <a:avLst>
              <a:gd name="adj" fmla="val 50000"/>
            </a:avLst>
          </a:prstGeom>
          <a:solidFill>
            <a:srgbClr val="FAF1DE"/>
          </a:solidFill>
          <a:ln/>
        </p:spPr>
      </p:sp>
      <p:sp>
        <p:nvSpPr>
          <p:cNvPr id="16" name="Text 14"/>
          <p:cNvSpPr/>
          <p:nvPr/>
        </p:nvSpPr>
        <p:spPr>
          <a:xfrm>
            <a:off x="4526280" y="2313432"/>
            <a:ext cx="1417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98A1F"/>
                </a:solidFill>
                <a:latin typeface="NanumGothicExtraBold" pitchFamily="34" charset="0"/>
                <a:ea typeface="NanumGothicExtraBold" pitchFamily="34" charset="-122"/>
                <a:cs typeface="NanumGothicExtraBold" pitchFamily="34" charset="-120"/>
              </a:rPr>
              <a:t>승인 / 수정요청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480560" y="2752344"/>
            <a:ext cx="1508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D1D1F"/>
                </a:solidFill>
                <a:latin typeface="NanumGothicExtraBold" pitchFamily="34" charset="0"/>
                <a:ea typeface="NanumGothicExtraBold" pitchFamily="34" charset="-122"/>
                <a:cs typeface="NanumGothicExtraBold" pitchFamily="34" charset="-120"/>
              </a:rPr>
              <a:t>홀딩스 검토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6080760" y="2606040"/>
            <a:ext cx="22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A1A1A6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→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6309360" y="2148840"/>
            <a:ext cx="1691640" cy="1371600"/>
          </a:xfrm>
          <a:prstGeom prst="roundRect">
            <a:avLst>
              <a:gd name="adj" fmla="val 4667"/>
            </a:avLst>
          </a:prstGeom>
          <a:solidFill>
            <a:srgbClr val="FFFFFF"/>
          </a:solidFill>
          <a:ln w="12700">
            <a:solidFill>
              <a:srgbClr val="E5E5EA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446520" y="2313432"/>
            <a:ext cx="1417320" cy="310896"/>
          </a:xfrm>
          <a:prstGeom prst="roundRect">
            <a:avLst>
              <a:gd name="adj" fmla="val 50000"/>
            </a:avLst>
          </a:prstGeom>
          <a:solidFill>
            <a:srgbClr val="E7F5EC"/>
          </a:solidFill>
          <a:ln/>
        </p:spPr>
      </p:sp>
      <p:sp>
        <p:nvSpPr>
          <p:cNvPr id="21" name="Text 19"/>
          <p:cNvSpPr/>
          <p:nvPr/>
        </p:nvSpPr>
        <p:spPr>
          <a:xfrm>
            <a:off x="6446520" y="2313432"/>
            <a:ext cx="1417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F9E5B"/>
                </a:solidFill>
                <a:latin typeface="NanumGothicExtraBold" pitchFamily="34" charset="0"/>
                <a:ea typeface="NanumGothicExtraBold" pitchFamily="34" charset="-122"/>
                <a:cs typeface="NanumGothicExtraBold" pitchFamily="34" charset="-120"/>
              </a:rPr>
              <a:t>승인완료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6400800" y="2752344"/>
            <a:ext cx="1508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D1D1F"/>
                </a:solidFill>
                <a:latin typeface="NanumGothicExtraBold" pitchFamily="34" charset="0"/>
                <a:ea typeface="NanumGothicExtraBold" pitchFamily="34" charset="-122"/>
                <a:cs typeface="NanumGothicExtraBold" pitchFamily="34" charset="-120"/>
              </a:rPr>
              <a:t>승인 완료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8001000" y="2606040"/>
            <a:ext cx="22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A1A1A6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→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8229600" y="2148840"/>
            <a:ext cx="1691640" cy="1371600"/>
          </a:xfrm>
          <a:prstGeom prst="roundRect">
            <a:avLst>
              <a:gd name="adj" fmla="val 4667"/>
            </a:avLst>
          </a:prstGeom>
          <a:solidFill>
            <a:srgbClr val="FFFFFF"/>
          </a:solidFill>
          <a:ln w="12700">
            <a:solidFill>
              <a:srgbClr val="E5E5EA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8366760" y="2313432"/>
            <a:ext cx="1417320" cy="310896"/>
          </a:xfrm>
          <a:prstGeom prst="roundRect">
            <a:avLst>
              <a:gd name="adj" fmla="val 50000"/>
            </a:avLst>
          </a:prstGeom>
          <a:solidFill>
            <a:srgbClr val="EEF0F4"/>
          </a:solidFill>
          <a:ln/>
        </p:spPr>
      </p:sp>
      <p:sp>
        <p:nvSpPr>
          <p:cNvPr id="26" name="Text 24"/>
          <p:cNvSpPr/>
          <p:nvPr/>
        </p:nvSpPr>
        <p:spPr>
          <a:xfrm>
            <a:off x="8366760" y="2313432"/>
            <a:ext cx="1417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A4356"/>
                </a:solidFill>
                <a:latin typeface="NanumGothicExtraBold" pitchFamily="34" charset="0"/>
                <a:ea typeface="NanumGothicExtraBold" pitchFamily="34" charset="-122"/>
                <a:cs typeface="NanumGothicExtraBold" pitchFamily="34" charset="-120"/>
              </a:rPr>
              <a:t>매월 · 매분기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8321040" y="2752344"/>
            <a:ext cx="1508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D1D1F"/>
                </a:solidFill>
                <a:latin typeface="NanumGothicExtraBold" pitchFamily="34" charset="0"/>
                <a:ea typeface="NanumGothicExtraBold" pitchFamily="34" charset="-122"/>
                <a:cs typeface="NanumGothicExtraBold" pitchFamily="34" charset="-120"/>
              </a:rPr>
              <a:t>진행실적 입력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9921240" y="2606040"/>
            <a:ext cx="22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A1A1A6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→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10149840" y="2148840"/>
            <a:ext cx="1691640" cy="1371600"/>
          </a:xfrm>
          <a:prstGeom prst="roundRect">
            <a:avLst>
              <a:gd name="adj" fmla="val 4667"/>
            </a:avLst>
          </a:prstGeom>
          <a:solidFill>
            <a:srgbClr val="FFFFFF"/>
          </a:solidFill>
          <a:ln w="12700">
            <a:solidFill>
              <a:srgbClr val="E5E5EA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10287000" y="2313432"/>
            <a:ext cx="1417320" cy="310896"/>
          </a:xfrm>
          <a:prstGeom prst="roundRect">
            <a:avLst>
              <a:gd name="adj" fmla="val 50000"/>
            </a:avLst>
          </a:prstGeom>
          <a:solidFill>
            <a:srgbClr val="FBEAE7"/>
          </a:solidFill>
          <a:ln/>
        </p:spPr>
      </p:sp>
      <p:sp>
        <p:nvSpPr>
          <p:cNvPr id="31" name="Text 29"/>
          <p:cNvSpPr/>
          <p:nvPr/>
        </p:nvSpPr>
        <p:spPr>
          <a:xfrm>
            <a:off x="10287000" y="2313432"/>
            <a:ext cx="1417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94A3C"/>
                </a:solidFill>
                <a:latin typeface="NanumGothicExtraBold" pitchFamily="34" charset="0"/>
                <a:ea typeface="NanumGothicExtraBold" pitchFamily="34" charset="-122"/>
                <a:cs typeface="NanumGothicExtraBold" pitchFamily="34" charset="-120"/>
              </a:rPr>
              <a:t>승인 후 수정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0241280" y="2752344"/>
            <a:ext cx="1508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D1D1F"/>
                </a:solidFill>
                <a:latin typeface="NanumGothicExtraBold" pitchFamily="34" charset="0"/>
                <a:ea typeface="NanumGothicExtraBold" pitchFamily="34" charset="-122"/>
                <a:cs typeface="NanumGothicExtraBold" pitchFamily="34" charset="-120"/>
              </a:rPr>
              <a:t>필요 시 변경요청</a:t>
            </a:r>
            <a:endParaRPr lang="en-US" sz="1250" dirty="0"/>
          </a:p>
        </p:txBody>
      </p:sp>
      <p:sp>
        <p:nvSpPr>
          <p:cNvPr id="33" name="Shape 31"/>
          <p:cNvSpPr/>
          <p:nvPr/>
        </p:nvSpPr>
        <p:spPr>
          <a:xfrm>
            <a:off x="548640" y="3977640"/>
            <a:ext cx="11091672" cy="2148840"/>
          </a:xfrm>
          <a:prstGeom prst="roundRect">
            <a:avLst>
              <a:gd name="adj" fmla="val 2553"/>
            </a:avLst>
          </a:prstGeom>
          <a:solidFill>
            <a:srgbClr val="FFFFFF"/>
          </a:solidFill>
          <a:ln w="12700">
            <a:solidFill>
              <a:srgbClr val="E5E5EA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868680" y="4160520"/>
            <a:ext cx="10451592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350" dirty="0">
                <a:solidFill>
                  <a:srgbClr val="1D1D1F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수정요청을 받으면 </a:t>
            </a:r>
            <a:pPr indent="0" marL="0">
              <a:lnSpc>
                <a:spcPct val="150000"/>
              </a:lnSpc>
              <a:buNone/>
            </a:pPr>
            <a:r>
              <a:rPr lang="en-US" sz="1350" b="1" dirty="0">
                <a:solidFill>
                  <a:srgbClr val="C98A1F"/>
                </a:solidFill>
                <a:latin typeface="NanumGothicExtraBold" pitchFamily="34" charset="0"/>
                <a:ea typeface="NanumGothicExtraBold" pitchFamily="34" charset="-122"/>
                <a:cs typeface="NanumGothicExtraBold" pitchFamily="34" charset="-120"/>
              </a:rPr>
              <a:t>목표를 고쳐 다시 제출</a:t>
            </a:r>
            <a:pPr indent="0" marL="0">
              <a:lnSpc>
                <a:spcPct val="150000"/>
              </a:lnSpc>
              <a:buNone/>
            </a:pPr>
            <a:r>
              <a:rPr lang="en-US" sz="1350" dirty="0">
                <a:solidFill>
                  <a:srgbClr val="1D1D1F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하면 됩니다.</a:t>
            </a:r>
            <a:endParaRPr lang="en-US" sz="135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350" dirty="0">
                <a:solidFill>
                  <a:srgbClr val="1D1D1F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제출 직후 실수를 발견했다면, 승인 전까지는 </a:t>
            </a:r>
            <a:pPr indent="0" marL="0">
              <a:lnSpc>
                <a:spcPct val="150000"/>
              </a:lnSpc>
              <a:buNone/>
            </a:pPr>
            <a:r>
              <a:rPr lang="en-US" sz="1350" b="1" dirty="0">
                <a:solidFill>
                  <a:srgbClr val="3A4356"/>
                </a:solidFill>
                <a:latin typeface="NanumGothicExtraBold" pitchFamily="34" charset="0"/>
                <a:ea typeface="NanumGothicExtraBold" pitchFamily="34" charset="-122"/>
                <a:cs typeface="NanumGothicExtraBold" pitchFamily="34" charset="-120"/>
              </a:rPr>
              <a:t>[제출취소]</a:t>
            </a:r>
            <a:pPr indent="0" marL="0">
              <a:lnSpc>
                <a:spcPct val="150000"/>
              </a:lnSpc>
              <a:buNone/>
            </a:pPr>
            <a:r>
              <a:rPr lang="en-US" sz="1350" dirty="0">
                <a:solidFill>
                  <a:srgbClr val="1D1D1F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로 임시저장 상태로 되돌려 다시 수정할 수 있습니다.</a:t>
            </a:r>
            <a:endParaRPr lang="en-US" sz="135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350" dirty="0">
                <a:solidFill>
                  <a:srgbClr val="1D1D1F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승인 · 잠김 이후에 목표나 핵심지표를 고쳐야 한다면, </a:t>
            </a:r>
            <a:pPr indent="0" marL="0">
              <a:lnSpc>
                <a:spcPct val="150000"/>
              </a:lnSpc>
              <a:buNone/>
            </a:pPr>
            <a:r>
              <a:rPr lang="en-US" sz="1350" b="1" dirty="0">
                <a:solidFill>
                  <a:srgbClr val="C94A3C"/>
                </a:solidFill>
                <a:latin typeface="NanumGothicExtraBold" pitchFamily="34" charset="0"/>
                <a:ea typeface="NanumGothicExtraBold" pitchFamily="34" charset="-122"/>
                <a:cs typeface="NanumGothicExtraBold" pitchFamily="34" charset="-120"/>
              </a:rPr>
              <a:t>[변경요청]</a:t>
            </a:r>
            <a:pPr indent="0" marL="0">
              <a:lnSpc>
                <a:spcPct val="150000"/>
              </a:lnSpc>
              <a:buNone/>
            </a:pPr>
            <a:r>
              <a:rPr lang="en-US" sz="1350" dirty="0">
                <a:solidFill>
                  <a:srgbClr val="1D1D1F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을 제출하고 홀딩스 승인을 받아야만 반영됩니다.</a:t>
            </a:r>
            <a:endParaRPr lang="en-US" sz="1350" dirty="0"/>
          </a:p>
        </p:txBody>
      </p:sp>
      <p:sp>
        <p:nvSpPr>
          <p:cNvPr id="35" name="Text 33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1A1A6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대교홀딩스 SMART 사업계획 관리 시스템 · 계열사 담당자 가이드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1A1A6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D1D1F"/>
                </a:solidFill>
                <a:latin typeface="NanumGothicExtraBold" pitchFamily="34" charset="0"/>
                <a:ea typeface="NanumGothicExtraBold" pitchFamily="34" charset="-122"/>
                <a:cs typeface="NanumGothicExtraBold" pitchFamily="34" charset="-120"/>
              </a:rPr>
              <a:t>4. SMART란 무엇인가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841248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E6E73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1981년 조지 도란(George T. Doran)이 제안한 목표 설정 기법입니다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11091672" cy="713232"/>
          </a:xfrm>
          <a:prstGeom prst="roundRect">
            <a:avLst>
              <a:gd name="adj" fmla="val 6410"/>
            </a:avLst>
          </a:prstGeom>
          <a:solidFill>
            <a:srgbClr val="FFFFFF"/>
          </a:solidFill>
          <a:ln w="12700">
            <a:solidFill>
              <a:srgbClr val="E5E5EA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1819656"/>
            <a:ext cx="365760" cy="365760"/>
          </a:xfrm>
          <a:prstGeom prst="ellipse">
            <a:avLst/>
          </a:prstGeom>
          <a:solidFill>
            <a:srgbClr val="3A4356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81965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anumGothicExtraBold" pitchFamily="34" charset="0"/>
                <a:ea typeface="NanumGothicExtraBold" pitchFamily="34" charset="-122"/>
                <a:cs typeface="NanumGothicExtraBold" pitchFamily="34" charset="-120"/>
              </a:rPr>
              <a:t>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325880" y="1719072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D1D1F"/>
                </a:solidFill>
                <a:latin typeface="NanumGothicExtraBold" pitchFamily="34" charset="0"/>
                <a:ea typeface="NanumGothicExtraBold" pitchFamily="34" charset="-122"/>
                <a:cs typeface="NanumGothicExtraBold" pitchFamily="34" charset="-120"/>
              </a:rPr>
              <a:t>Specific · 구체성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325880" y="2011680"/>
            <a:ext cx="10177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6E73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무엇을, 왜, 어떻게 할 것인지가 명확한가?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48640" y="2450592"/>
            <a:ext cx="11091672" cy="713232"/>
          </a:xfrm>
          <a:prstGeom prst="roundRect">
            <a:avLst>
              <a:gd name="adj" fmla="val 6410"/>
            </a:avLst>
          </a:prstGeom>
          <a:solidFill>
            <a:srgbClr val="FFFFFF"/>
          </a:solidFill>
          <a:ln w="12700">
            <a:solidFill>
              <a:srgbClr val="E5E5EA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777240" y="2624328"/>
            <a:ext cx="365760" cy="365760"/>
          </a:xfrm>
          <a:prstGeom prst="ellipse">
            <a:avLst/>
          </a:prstGeom>
          <a:solidFill>
            <a:srgbClr val="4C6FA5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" y="262432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anumGothicExtraBold" pitchFamily="34" charset="0"/>
                <a:ea typeface="NanumGothicExtraBold" pitchFamily="34" charset="-122"/>
                <a:cs typeface="NanumGothicExtraBold" pitchFamily="34" charset="-120"/>
              </a:rPr>
              <a:t>M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325880" y="2523744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D1D1F"/>
                </a:solidFill>
                <a:latin typeface="NanumGothicExtraBold" pitchFamily="34" charset="0"/>
                <a:ea typeface="NanumGothicExtraBold" pitchFamily="34" charset="-122"/>
                <a:cs typeface="NanumGothicExtraBold" pitchFamily="34" charset="-120"/>
              </a:rPr>
              <a:t>Measurable · 측정 가능성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325880" y="2816352"/>
            <a:ext cx="10177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6E73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진행 상황과 달성 여부를 수치로 확인할 수 있는가?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48640" y="3255264"/>
            <a:ext cx="11091672" cy="713232"/>
          </a:xfrm>
          <a:prstGeom prst="roundRect">
            <a:avLst>
              <a:gd name="adj" fmla="val 6410"/>
            </a:avLst>
          </a:prstGeom>
          <a:solidFill>
            <a:srgbClr val="FFFFFF"/>
          </a:solidFill>
          <a:ln w="12700">
            <a:solidFill>
              <a:srgbClr val="E5E5EA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77240" y="3429000"/>
            <a:ext cx="365760" cy="365760"/>
          </a:xfrm>
          <a:prstGeom prst="ellipse">
            <a:avLst/>
          </a:prstGeom>
          <a:solidFill>
            <a:srgbClr val="2F9E5B"/>
          </a:solidFill>
          <a:ln/>
        </p:spPr>
      </p:sp>
      <p:sp>
        <p:nvSpPr>
          <p:cNvPr id="16" name="Text 14"/>
          <p:cNvSpPr/>
          <p:nvPr/>
        </p:nvSpPr>
        <p:spPr>
          <a:xfrm>
            <a:off x="777240" y="34290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anumGothicExtraBold" pitchFamily="34" charset="0"/>
                <a:ea typeface="NanumGothicExtraBold" pitchFamily="34" charset="-122"/>
                <a:cs typeface="NanumGothicExtraBold" pitchFamily="34" charset="-120"/>
              </a:rPr>
              <a:t>A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325880" y="3328416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D1D1F"/>
                </a:solidFill>
                <a:latin typeface="NanumGothicExtraBold" pitchFamily="34" charset="0"/>
                <a:ea typeface="NanumGothicExtraBold" pitchFamily="34" charset="-122"/>
                <a:cs typeface="NanumGothicExtraBold" pitchFamily="34" charset="-120"/>
              </a:rPr>
              <a:t>Achievable · 달성 가능성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325880" y="3621024"/>
            <a:ext cx="10177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6E73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현재 자원과 역량으로 현실적으로 이룰 수 있는가?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48640" y="4059936"/>
            <a:ext cx="11091672" cy="713232"/>
          </a:xfrm>
          <a:prstGeom prst="roundRect">
            <a:avLst>
              <a:gd name="adj" fmla="val 6410"/>
            </a:avLst>
          </a:prstGeom>
          <a:solidFill>
            <a:srgbClr val="FFFFFF"/>
          </a:solidFill>
          <a:ln w="12700">
            <a:solidFill>
              <a:srgbClr val="E5E5EA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77240" y="4233672"/>
            <a:ext cx="365760" cy="365760"/>
          </a:xfrm>
          <a:prstGeom prst="ellipse">
            <a:avLst/>
          </a:prstGeom>
          <a:solidFill>
            <a:srgbClr val="C98A1F"/>
          </a:solidFill>
          <a:ln/>
        </p:spPr>
      </p:sp>
      <p:sp>
        <p:nvSpPr>
          <p:cNvPr id="21" name="Text 19"/>
          <p:cNvSpPr/>
          <p:nvPr/>
        </p:nvSpPr>
        <p:spPr>
          <a:xfrm>
            <a:off x="777240" y="423367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anumGothicExtraBold" pitchFamily="34" charset="0"/>
                <a:ea typeface="NanumGothicExtraBold" pitchFamily="34" charset="-122"/>
                <a:cs typeface="NanumGothicExtraBold" pitchFamily="34" charset="-120"/>
              </a:rPr>
              <a:t>R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325880" y="4133088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D1D1F"/>
                </a:solidFill>
                <a:latin typeface="NanumGothicExtraBold" pitchFamily="34" charset="0"/>
                <a:ea typeface="NanumGothicExtraBold" pitchFamily="34" charset="-122"/>
                <a:cs typeface="NanumGothicExtraBold" pitchFamily="34" charset="-120"/>
              </a:rPr>
              <a:t>Relevant · 관련성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325880" y="4425696"/>
            <a:ext cx="10177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6E73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회사·조직의 상위 전략 방향과 맞닿아 있는가?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48640" y="4864608"/>
            <a:ext cx="11091672" cy="713232"/>
          </a:xfrm>
          <a:prstGeom prst="roundRect">
            <a:avLst>
              <a:gd name="adj" fmla="val 6410"/>
            </a:avLst>
          </a:prstGeom>
          <a:solidFill>
            <a:srgbClr val="FFFFFF"/>
          </a:solidFill>
          <a:ln w="12700">
            <a:solidFill>
              <a:srgbClr val="E5E5EA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777240" y="5038344"/>
            <a:ext cx="365760" cy="365760"/>
          </a:xfrm>
          <a:prstGeom prst="ellipse">
            <a:avLst/>
          </a:prstGeom>
          <a:solidFill>
            <a:srgbClr val="C94A3C"/>
          </a:solidFill>
          <a:ln/>
        </p:spPr>
      </p:sp>
      <p:sp>
        <p:nvSpPr>
          <p:cNvPr id="26" name="Text 24"/>
          <p:cNvSpPr/>
          <p:nvPr/>
        </p:nvSpPr>
        <p:spPr>
          <a:xfrm>
            <a:off x="777240" y="503834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anumGothicExtraBold" pitchFamily="34" charset="0"/>
                <a:ea typeface="NanumGothicExtraBold" pitchFamily="34" charset="-122"/>
                <a:cs typeface="NanumGothicExtraBold" pitchFamily="34" charset="-120"/>
              </a:rPr>
              <a:t>T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1325880" y="4937760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D1D1F"/>
                </a:solidFill>
                <a:latin typeface="NanumGothicExtraBold" pitchFamily="34" charset="0"/>
                <a:ea typeface="NanumGothicExtraBold" pitchFamily="34" charset="-122"/>
                <a:cs typeface="NanumGothicExtraBold" pitchFamily="34" charset="-120"/>
              </a:rPr>
              <a:t>Time-bound · 기한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1325880" y="5230368"/>
            <a:ext cx="10177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6E73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언제까지 달성할지 명확한 시점이 정해져 있는가?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48640" y="5760720"/>
            <a:ext cx="1109167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i="1" dirty="0">
                <a:solidFill>
                  <a:srgbClr val="6E6E73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SMART는 막연한 다짐을 실행 가능한 계획으로 바꾸는 도구입니다. 다섯 조건을 충족할수록 달성 여부를 담당자와 홀딩스 모두 명확하게 판단할 수 있습니다.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1A1A6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대교홀딩스 SMART 사업계획 관리 시스템 · 계열사 담당자 가이드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1A1A6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D1D1F"/>
                </a:solidFill>
                <a:latin typeface="NanumGothicExtraBold" pitchFamily="34" charset="0"/>
                <a:ea typeface="NanumGothicExtraBold" pitchFamily="34" charset="-122"/>
                <a:cs typeface="NanumGothicExtraBold" pitchFamily="34" charset="-120"/>
              </a:rPr>
              <a:t>5. SMART, 이렇게 작성하세요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841248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E6E73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항목별로 나쁜 예와 좋은 예를 비교해보면 더 쉽게 이해할 수 있습니다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48640" y="1773936"/>
            <a:ext cx="438912" cy="438912"/>
          </a:xfrm>
          <a:prstGeom prst="ellipse">
            <a:avLst/>
          </a:prstGeom>
          <a:solidFill>
            <a:srgbClr val="3A4356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773936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anumGothicExtraBold" pitchFamily="34" charset="0"/>
                <a:ea typeface="NanumGothicExtraBold" pitchFamily="34" charset="-122"/>
                <a:cs typeface="NanumGothicExtraBold" pitchFamily="34" charset="-120"/>
              </a:rPr>
              <a:t>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051560" y="1572768"/>
            <a:ext cx="17373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1D1D1F"/>
                </a:solidFill>
                <a:latin typeface="NanumGothicExtraBold" pitchFamily="34" charset="0"/>
                <a:ea typeface="NanumGothicExtraBold" pitchFamily="34" charset="-122"/>
                <a:cs typeface="NanumGothicExtraBold" pitchFamily="34" charset="-120"/>
              </a:rPr>
              <a:t>Specific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1D1D1F"/>
                </a:solidFill>
                <a:latin typeface="NanumGothicExtraBold" pitchFamily="34" charset="0"/>
                <a:ea typeface="NanumGothicExtraBold" pitchFamily="34" charset="-122"/>
                <a:cs typeface="NanumGothicExtraBold" pitchFamily="34" charset="-120"/>
              </a:rPr>
              <a:t>(구체성)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2880360" y="1572768"/>
            <a:ext cx="42428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1A1A6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나쁜 예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880360" y="1792224"/>
            <a:ext cx="4242816" cy="603504"/>
          </a:xfrm>
          <a:prstGeom prst="rect">
            <a:avLst/>
          </a:prstGeom>
          <a:solidFill>
            <a:srgbClr val="FBEAE7"/>
          </a:solidFill>
          <a:ln/>
        </p:spPr>
      </p:sp>
      <p:sp>
        <p:nvSpPr>
          <p:cNvPr id="9" name="Text 7"/>
          <p:cNvSpPr/>
          <p:nvPr/>
        </p:nvSpPr>
        <p:spPr>
          <a:xfrm>
            <a:off x="3017520" y="1792224"/>
            <a:ext cx="396849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D1D1F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매출을 늘린다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7397496" y="1572768"/>
            <a:ext cx="42428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1A1A6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좋은 예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7397496" y="1792224"/>
            <a:ext cx="4242816" cy="603504"/>
          </a:xfrm>
          <a:prstGeom prst="rect">
            <a:avLst/>
          </a:prstGeom>
          <a:solidFill>
            <a:srgbClr val="E7F5EC"/>
          </a:solidFill>
          <a:ln/>
        </p:spPr>
      </p:sp>
      <p:sp>
        <p:nvSpPr>
          <p:cNvPr id="12" name="Text 10"/>
          <p:cNvSpPr/>
          <p:nvPr/>
        </p:nvSpPr>
        <p:spPr>
          <a:xfrm>
            <a:off x="7534656" y="1792224"/>
            <a:ext cx="396849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D1D1F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정기배송 회원 신규 유치를 통해 매출을 확대한다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48640" y="2670048"/>
            <a:ext cx="438912" cy="438912"/>
          </a:xfrm>
          <a:prstGeom prst="ellipse">
            <a:avLst/>
          </a:prstGeom>
          <a:solidFill>
            <a:srgbClr val="3A4356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267004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anumGothicExtraBold" pitchFamily="34" charset="0"/>
                <a:ea typeface="NanumGothicExtraBold" pitchFamily="34" charset="-122"/>
                <a:cs typeface="NanumGothicExtraBold" pitchFamily="34" charset="-120"/>
              </a:rPr>
              <a:t>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051560" y="2468880"/>
            <a:ext cx="17373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1D1D1F"/>
                </a:solidFill>
                <a:latin typeface="NanumGothicExtraBold" pitchFamily="34" charset="0"/>
                <a:ea typeface="NanumGothicExtraBold" pitchFamily="34" charset="-122"/>
                <a:cs typeface="NanumGothicExtraBold" pitchFamily="34" charset="-120"/>
              </a:rPr>
              <a:t>Measurable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1D1D1F"/>
                </a:solidFill>
                <a:latin typeface="NanumGothicExtraBold" pitchFamily="34" charset="0"/>
                <a:ea typeface="NanumGothicExtraBold" pitchFamily="34" charset="-122"/>
                <a:cs typeface="NanumGothicExtraBold" pitchFamily="34" charset="-120"/>
              </a:rPr>
              <a:t>(측정 가능성)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2880360" y="2468880"/>
            <a:ext cx="42428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1A1A6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나쁜 예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2880360" y="2688336"/>
            <a:ext cx="4242816" cy="603504"/>
          </a:xfrm>
          <a:prstGeom prst="rect">
            <a:avLst/>
          </a:prstGeom>
          <a:solidFill>
            <a:srgbClr val="FBEAE7"/>
          </a:solidFill>
          <a:ln/>
        </p:spPr>
      </p:sp>
      <p:sp>
        <p:nvSpPr>
          <p:cNvPr id="18" name="Text 16"/>
          <p:cNvSpPr/>
          <p:nvPr/>
        </p:nvSpPr>
        <p:spPr>
          <a:xfrm>
            <a:off x="3017520" y="2688336"/>
            <a:ext cx="396849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D1D1F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많이 늘린다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7397496" y="2468880"/>
            <a:ext cx="42428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1A1A6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좋은 예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7397496" y="2688336"/>
            <a:ext cx="4242816" cy="603504"/>
          </a:xfrm>
          <a:prstGeom prst="rect">
            <a:avLst/>
          </a:prstGeom>
          <a:solidFill>
            <a:srgbClr val="E7F5EC"/>
          </a:solidFill>
          <a:ln/>
        </p:spPr>
      </p:sp>
      <p:sp>
        <p:nvSpPr>
          <p:cNvPr id="21" name="Text 19"/>
          <p:cNvSpPr/>
          <p:nvPr/>
        </p:nvSpPr>
        <p:spPr>
          <a:xfrm>
            <a:off x="7534656" y="2688336"/>
            <a:ext cx="396849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D1D1F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전년 대비 6.3% 증가, 연간 11,500명 달성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548640" y="3566160"/>
            <a:ext cx="438912" cy="438912"/>
          </a:xfrm>
          <a:prstGeom prst="ellipse">
            <a:avLst/>
          </a:prstGeom>
          <a:solidFill>
            <a:srgbClr val="3A4356"/>
          </a:solidFill>
          <a:ln/>
        </p:spPr>
      </p:sp>
      <p:sp>
        <p:nvSpPr>
          <p:cNvPr id="23" name="Text 21"/>
          <p:cNvSpPr/>
          <p:nvPr/>
        </p:nvSpPr>
        <p:spPr>
          <a:xfrm>
            <a:off x="548640" y="356616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anumGothicExtraBold" pitchFamily="34" charset="0"/>
                <a:ea typeface="NanumGothicExtraBold" pitchFamily="34" charset="-122"/>
                <a:cs typeface="NanumGothicExtraBold" pitchFamily="34" charset="-120"/>
              </a:rPr>
              <a:t>A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051560" y="3364992"/>
            <a:ext cx="17373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1D1D1F"/>
                </a:solidFill>
                <a:latin typeface="NanumGothicExtraBold" pitchFamily="34" charset="0"/>
                <a:ea typeface="NanumGothicExtraBold" pitchFamily="34" charset="-122"/>
                <a:cs typeface="NanumGothicExtraBold" pitchFamily="34" charset="-120"/>
              </a:rPr>
              <a:t>Achievable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1D1D1F"/>
                </a:solidFill>
                <a:latin typeface="NanumGothicExtraBold" pitchFamily="34" charset="0"/>
                <a:ea typeface="NanumGothicExtraBold" pitchFamily="34" charset="-122"/>
                <a:cs typeface="NanumGothicExtraBold" pitchFamily="34" charset="-120"/>
              </a:rPr>
              <a:t>(달성 가능성)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2880360" y="3364992"/>
            <a:ext cx="42428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1A1A6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나쁜 예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2880360" y="3584448"/>
            <a:ext cx="4242816" cy="603504"/>
          </a:xfrm>
          <a:prstGeom prst="rect">
            <a:avLst/>
          </a:prstGeom>
          <a:solidFill>
            <a:srgbClr val="FBEAE7"/>
          </a:solidFill>
          <a:ln/>
        </p:spPr>
      </p:sp>
      <p:sp>
        <p:nvSpPr>
          <p:cNvPr id="27" name="Text 25"/>
          <p:cNvSpPr/>
          <p:nvPr/>
        </p:nvSpPr>
        <p:spPr>
          <a:xfrm>
            <a:off x="3017520" y="3584448"/>
            <a:ext cx="396849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D1D1F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무조건 업계 1위를 한다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7397496" y="3364992"/>
            <a:ext cx="42428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1A1A6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좋은 예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7397496" y="3584448"/>
            <a:ext cx="4242816" cy="603504"/>
          </a:xfrm>
          <a:prstGeom prst="rect">
            <a:avLst/>
          </a:prstGeom>
          <a:solidFill>
            <a:srgbClr val="E7F5EC"/>
          </a:solidFill>
          <a:ln/>
        </p:spPr>
      </p:sp>
      <p:sp>
        <p:nvSpPr>
          <p:cNvPr id="30" name="Text 28"/>
          <p:cNvSpPr/>
          <p:nvPr/>
        </p:nvSpPr>
        <p:spPr>
          <a:xfrm>
            <a:off x="7534656" y="3584448"/>
            <a:ext cx="396849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D1D1F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기존 채널 확장 + 신규 인력 투입으로 달성 가능한 수준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548640" y="4462272"/>
            <a:ext cx="438912" cy="438912"/>
          </a:xfrm>
          <a:prstGeom prst="ellipse">
            <a:avLst/>
          </a:prstGeom>
          <a:solidFill>
            <a:srgbClr val="3A4356"/>
          </a:solidFill>
          <a:ln/>
        </p:spPr>
      </p:sp>
      <p:sp>
        <p:nvSpPr>
          <p:cNvPr id="32" name="Text 30"/>
          <p:cNvSpPr/>
          <p:nvPr/>
        </p:nvSpPr>
        <p:spPr>
          <a:xfrm>
            <a:off x="548640" y="446227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anumGothicExtraBold" pitchFamily="34" charset="0"/>
                <a:ea typeface="NanumGothicExtraBold" pitchFamily="34" charset="-122"/>
                <a:cs typeface="NanumGothicExtraBold" pitchFamily="34" charset="-120"/>
              </a:rPr>
              <a:t>R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1051560" y="4261104"/>
            <a:ext cx="17373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1D1D1F"/>
                </a:solidFill>
                <a:latin typeface="NanumGothicExtraBold" pitchFamily="34" charset="0"/>
                <a:ea typeface="NanumGothicExtraBold" pitchFamily="34" charset="-122"/>
                <a:cs typeface="NanumGothicExtraBold" pitchFamily="34" charset="-120"/>
              </a:rPr>
              <a:t>Relevant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1D1D1F"/>
                </a:solidFill>
                <a:latin typeface="NanumGothicExtraBold" pitchFamily="34" charset="0"/>
                <a:ea typeface="NanumGothicExtraBold" pitchFamily="34" charset="-122"/>
                <a:cs typeface="NanumGothicExtraBold" pitchFamily="34" charset="-120"/>
              </a:rPr>
              <a:t>(관련성)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2880360" y="4261104"/>
            <a:ext cx="42428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1A1A6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나쁜 예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2880360" y="4480560"/>
            <a:ext cx="4242816" cy="603504"/>
          </a:xfrm>
          <a:prstGeom prst="rect">
            <a:avLst/>
          </a:prstGeom>
          <a:solidFill>
            <a:srgbClr val="FBEAE7"/>
          </a:solidFill>
          <a:ln/>
        </p:spPr>
      </p:sp>
      <p:sp>
        <p:nvSpPr>
          <p:cNvPr id="36" name="Text 34"/>
          <p:cNvSpPr/>
          <p:nvPr/>
        </p:nvSpPr>
        <p:spPr>
          <a:xfrm>
            <a:off x="3017520" y="4480560"/>
            <a:ext cx="396849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D1D1F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회사 전략과 무관한 개인 성과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7397496" y="4261104"/>
            <a:ext cx="42428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1A1A6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좋은 예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7397496" y="4480560"/>
            <a:ext cx="4242816" cy="603504"/>
          </a:xfrm>
          <a:prstGeom prst="rect">
            <a:avLst/>
          </a:prstGeom>
          <a:solidFill>
            <a:srgbClr val="E7F5EC"/>
          </a:solidFill>
          <a:ln/>
        </p:spPr>
      </p:sp>
      <p:sp>
        <p:nvSpPr>
          <p:cNvPr id="39" name="Text 37"/>
          <p:cNvSpPr/>
          <p:nvPr/>
        </p:nvSpPr>
        <p:spPr>
          <a:xfrm>
            <a:off x="7534656" y="4480560"/>
            <a:ext cx="396849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D1D1F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회원수 확대 → 고정 매출 기반 확보 (상위 경영목표와 연결)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548640" y="5358384"/>
            <a:ext cx="438912" cy="438912"/>
          </a:xfrm>
          <a:prstGeom prst="ellipse">
            <a:avLst/>
          </a:prstGeom>
          <a:solidFill>
            <a:srgbClr val="3A4356"/>
          </a:solidFill>
          <a:ln/>
        </p:spPr>
      </p:sp>
      <p:sp>
        <p:nvSpPr>
          <p:cNvPr id="41" name="Text 39"/>
          <p:cNvSpPr/>
          <p:nvPr/>
        </p:nvSpPr>
        <p:spPr>
          <a:xfrm>
            <a:off x="548640" y="535838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anumGothicExtraBold" pitchFamily="34" charset="0"/>
                <a:ea typeface="NanumGothicExtraBold" pitchFamily="34" charset="-122"/>
                <a:cs typeface="NanumGothicExtraBold" pitchFamily="34" charset="-120"/>
              </a:rPr>
              <a:t>T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1051560" y="5157216"/>
            <a:ext cx="17373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1D1D1F"/>
                </a:solidFill>
                <a:latin typeface="NanumGothicExtraBold" pitchFamily="34" charset="0"/>
                <a:ea typeface="NanumGothicExtraBold" pitchFamily="34" charset="-122"/>
                <a:cs typeface="NanumGothicExtraBold" pitchFamily="34" charset="-120"/>
              </a:rPr>
              <a:t>Time-bound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1D1D1F"/>
                </a:solidFill>
                <a:latin typeface="NanumGothicExtraBold" pitchFamily="34" charset="0"/>
                <a:ea typeface="NanumGothicExtraBold" pitchFamily="34" charset="-122"/>
                <a:cs typeface="NanumGothicExtraBold" pitchFamily="34" charset="-120"/>
              </a:rPr>
              <a:t>(기한)</a:t>
            </a:r>
            <a:endParaRPr lang="en-US" sz="1050" dirty="0"/>
          </a:p>
        </p:txBody>
      </p:sp>
      <p:sp>
        <p:nvSpPr>
          <p:cNvPr id="43" name="Text 41"/>
          <p:cNvSpPr/>
          <p:nvPr/>
        </p:nvSpPr>
        <p:spPr>
          <a:xfrm>
            <a:off x="2880360" y="5157216"/>
            <a:ext cx="42428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1A1A6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나쁜 예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2880360" y="5376672"/>
            <a:ext cx="4242816" cy="603504"/>
          </a:xfrm>
          <a:prstGeom prst="rect">
            <a:avLst/>
          </a:prstGeom>
          <a:solidFill>
            <a:srgbClr val="FBEAE7"/>
          </a:solidFill>
          <a:ln/>
        </p:spPr>
      </p:sp>
      <p:sp>
        <p:nvSpPr>
          <p:cNvPr id="45" name="Text 43"/>
          <p:cNvSpPr/>
          <p:nvPr/>
        </p:nvSpPr>
        <p:spPr>
          <a:xfrm>
            <a:off x="3017520" y="5376672"/>
            <a:ext cx="396849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D1D1F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언젠가, 적당히 빨리</a:t>
            </a:r>
            <a:endParaRPr lang="en-US" sz="1050" dirty="0"/>
          </a:p>
        </p:txBody>
      </p:sp>
      <p:sp>
        <p:nvSpPr>
          <p:cNvPr id="46" name="Text 44"/>
          <p:cNvSpPr/>
          <p:nvPr/>
        </p:nvSpPr>
        <p:spPr>
          <a:xfrm>
            <a:off x="7397496" y="5157216"/>
            <a:ext cx="42428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1A1A6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좋은 예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7397496" y="5376672"/>
            <a:ext cx="4242816" cy="603504"/>
          </a:xfrm>
          <a:prstGeom prst="rect">
            <a:avLst/>
          </a:prstGeom>
          <a:solidFill>
            <a:srgbClr val="E7F5EC"/>
          </a:solidFill>
          <a:ln/>
        </p:spPr>
      </p:sp>
      <p:sp>
        <p:nvSpPr>
          <p:cNvPr id="48" name="Text 46"/>
          <p:cNvSpPr/>
          <p:nvPr/>
        </p:nvSpPr>
        <p:spPr>
          <a:xfrm>
            <a:off x="7534656" y="5376672"/>
            <a:ext cx="396849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D1D1F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2026년 12월까지, 분기별로 진행 점검</a:t>
            </a:r>
            <a:endParaRPr lang="en-US" sz="1050" dirty="0"/>
          </a:p>
        </p:txBody>
      </p:sp>
      <p:sp>
        <p:nvSpPr>
          <p:cNvPr id="49" name="Text 47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1A1A6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대교홀딩스 SMART 사업계획 관리 시스템 · 계열사 담당자 가이드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1A1A6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D1D1F"/>
                </a:solidFill>
                <a:latin typeface="NanumGothicExtraBold" pitchFamily="34" charset="0"/>
                <a:ea typeface="NanumGothicExtraBold" pitchFamily="34" charset="-122"/>
                <a:cs typeface="NanumGothicExtraBold" pitchFamily="34" charset="-120"/>
              </a:rPr>
              <a:t>6. 목표 작성 ① — SMART 항목 입력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841248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E6E73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사이드바 [사업계획 목표] → [+ 새 목표 작성]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640080" y="1554480"/>
            <a:ext cx="7315200" cy="4709160"/>
          </a:xfrm>
          <a:prstGeom prst="roundRect">
            <a:avLst>
              <a:gd name="adj" fmla="val 1165"/>
            </a:avLst>
          </a:prstGeom>
          <a:solidFill>
            <a:srgbClr val="FFFFFF"/>
          </a:solidFill>
          <a:ln w="12700">
            <a:solidFill>
              <a:srgbClr val="E5E5EA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554480"/>
            <a:ext cx="1737360" cy="4709160"/>
          </a:xfrm>
          <a:prstGeom prst="rect">
            <a:avLst/>
          </a:prstGeom>
          <a:solidFill>
            <a:srgbClr val="3A4356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682496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anumGothicExtraBold" pitchFamily="34" charset="0"/>
                <a:ea typeface="NanumGothicExtraBold" pitchFamily="34" charset="-122"/>
                <a:cs typeface="NanumGothicExtraBold" pitchFamily="34" charset="-120"/>
              </a:rPr>
              <a:t>SMART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77240" y="1901952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7CCD6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대교홀딩스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41248" y="233172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7CCD6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대시보드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749808" y="2679192"/>
            <a:ext cx="1517904" cy="310896"/>
          </a:xfrm>
          <a:prstGeom prst="roundRect">
            <a:avLst>
              <a:gd name="adj" fmla="val 14706"/>
            </a:avLst>
          </a:prstGeom>
          <a:solidFill>
            <a:srgbClr val="4A5570"/>
          </a:solidFill>
          <a:ln/>
        </p:spPr>
      </p:sp>
      <p:sp>
        <p:nvSpPr>
          <p:cNvPr id="10" name="Text 8"/>
          <p:cNvSpPr/>
          <p:nvPr/>
        </p:nvSpPr>
        <p:spPr>
          <a:xfrm>
            <a:off x="841248" y="2715768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NanumGothicExtraBold" pitchFamily="34" charset="0"/>
                <a:ea typeface="NanumGothicExtraBold" pitchFamily="34" charset="-122"/>
                <a:cs typeface="NanumGothicExtraBold" pitchFamily="34" charset="-120"/>
              </a:rPr>
              <a:t>사업계획 목표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841248" y="3099816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7CCD6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진행실적 입력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841248" y="3483864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7CCD6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변경요청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2606040" y="178308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D1D1F"/>
                </a:solidFill>
                <a:latin typeface="NanumGothicExtraBold" pitchFamily="34" charset="0"/>
                <a:ea typeface="NanumGothicExtraBold" pitchFamily="34" charset="-122"/>
                <a:cs typeface="NanumGothicExtraBold" pitchFamily="34" charset="-120"/>
              </a:rPr>
              <a:t>SMART 목표 작성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2606040" y="2148840"/>
            <a:ext cx="5120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E6E73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사업부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2606040" y="2331720"/>
            <a:ext cx="5120640" cy="246888"/>
          </a:xfrm>
          <a:prstGeom prst="roundRect">
            <a:avLst>
              <a:gd name="adj" fmla="val 14815"/>
            </a:avLst>
          </a:prstGeom>
          <a:solidFill>
            <a:srgbClr val="F5F5F7"/>
          </a:solidFill>
          <a:ln w="12700">
            <a:solidFill>
              <a:srgbClr val="E5E5E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606040" y="2660904"/>
            <a:ext cx="5120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E6E73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전략(목표) *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2606040" y="2843784"/>
            <a:ext cx="5120640" cy="246888"/>
          </a:xfrm>
          <a:prstGeom prst="roundRect">
            <a:avLst>
              <a:gd name="adj" fmla="val 14815"/>
            </a:avLst>
          </a:prstGeom>
          <a:solidFill>
            <a:srgbClr val="F5F5F7"/>
          </a:solidFill>
          <a:ln w="12700">
            <a:solidFill>
              <a:srgbClr val="E5E5E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606040" y="3172968"/>
            <a:ext cx="5120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E6E73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S · Specific (무엇을 할 것인가)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2606040" y="3355848"/>
            <a:ext cx="5120640" cy="246888"/>
          </a:xfrm>
          <a:prstGeom prst="roundRect">
            <a:avLst>
              <a:gd name="adj" fmla="val 14815"/>
            </a:avLst>
          </a:prstGeom>
          <a:solidFill>
            <a:srgbClr val="F5F5F7"/>
          </a:solidFill>
          <a:ln w="12700">
            <a:solidFill>
              <a:srgbClr val="E5E5E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606040" y="3685032"/>
            <a:ext cx="5120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E6E73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M · Measurable (수치 · 기준)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2606040" y="3867912"/>
            <a:ext cx="5120640" cy="246888"/>
          </a:xfrm>
          <a:prstGeom prst="roundRect">
            <a:avLst>
              <a:gd name="adj" fmla="val 14815"/>
            </a:avLst>
          </a:prstGeom>
          <a:solidFill>
            <a:srgbClr val="F5F5F7"/>
          </a:solidFill>
          <a:ln w="12700">
            <a:solidFill>
              <a:srgbClr val="E5E5E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606040" y="4197096"/>
            <a:ext cx="5120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E6E73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A · Achievable (달성 가능 근거)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2606040" y="4379976"/>
            <a:ext cx="5120640" cy="246888"/>
          </a:xfrm>
          <a:prstGeom prst="roundRect">
            <a:avLst>
              <a:gd name="adj" fmla="val 14815"/>
            </a:avLst>
          </a:prstGeom>
          <a:solidFill>
            <a:srgbClr val="F5F5F7"/>
          </a:solidFill>
          <a:ln w="12700">
            <a:solidFill>
              <a:srgbClr val="E5E5E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606040" y="4709160"/>
            <a:ext cx="5120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E6E73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R · Relevant (우선순위 관련성)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2606040" y="4892040"/>
            <a:ext cx="5120640" cy="246888"/>
          </a:xfrm>
          <a:prstGeom prst="roundRect">
            <a:avLst>
              <a:gd name="adj" fmla="val 14815"/>
            </a:avLst>
          </a:prstGeom>
          <a:solidFill>
            <a:srgbClr val="F5F5F7"/>
          </a:solidFill>
          <a:ln w="12700">
            <a:solidFill>
              <a:srgbClr val="E5E5E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606040" y="5221224"/>
            <a:ext cx="5120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E6E73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T · Time-bound (완료 시점)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2606040" y="5404104"/>
            <a:ext cx="5120640" cy="246888"/>
          </a:xfrm>
          <a:prstGeom prst="roundRect">
            <a:avLst>
              <a:gd name="adj" fmla="val 14815"/>
            </a:avLst>
          </a:prstGeom>
          <a:solidFill>
            <a:srgbClr val="F5F5F7"/>
          </a:solidFill>
          <a:ln w="12700">
            <a:solidFill>
              <a:srgbClr val="E5E5EA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275320" y="1737360"/>
            <a:ext cx="384048" cy="384048"/>
          </a:xfrm>
          <a:prstGeom prst="ellipse">
            <a:avLst/>
          </a:prstGeom>
          <a:solidFill>
            <a:srgbClr val="3A4356"/>
          </a:solidFill>
          <a:ln/>
        </p:spPr>
      </p:sp>
      <p:sp>
        <p:nvSpPr>
          <p:cNvPr id="29" name="Text 27"/>
          <p:cNvSpPr/>
          <p:nvPr/>
        </p:nvSpPr>
        <p:spPr>
          <a:xfrm>
            <a:off x="8275320" y="17373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anumGothicExtraBold" pitchFamily="34" charset="0"/>
                <a:ea typeface="NanumGothicExtraBold" pitchFamily="34" charset="-122"/>
                <a:cs typeface="NanumGothicExtraBold" pitchFamily="34" charset="-120"/>
              </a:rPr>
              <a:t>1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8778240" y="1691640"/>
            <a:ext cx="286207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D1D1F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전략(목표), 담당 사업부를 먼저 정하고 SMART 5개 항목을 채웁니다.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8275320" y="2606040"/>
            <a:ext cx="384048" cy="384048"/>
          </a:xfrm>
          <a:prstGeom prst="ellipse">
            <a:avLst/>
          </a:prstGeom>
          <a:solidFill>
            <a:srgbClr val="4C6FA5"/>
          </a:solidFill>
          <a:ln/>
        </p:spPr>
      </p:sp>
      <p:sp>
        <p:nvSpPr>
          <p:cNvPr id="32" name="Text 30"/>
          <p:cNvSpPr/>
          <p:nvPr/>
        </p:nvSpPr>
        <p:spPr>
          <a:xfrm>
            <a:off x="8275320" y="26060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anumGothicExtraBold" pitchFamily="34" charset="0"/>
                <a:ea typeface="NanumGothicExtraBold" pitchFamily="34" charset="-122"/>
                <a:cs typeface="NanumGothicExtraBold" pitchFamily="34" charset="-120"/>
              </a:rPr>
              <a:t>2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8778240" y="2560320"/>
            <a:ext cx="286207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D1D1F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한 번에 다 못 채워도 [임시저장]으로 나눠서 작성할 수 있습니다.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8275320" y="3474720"/>
            <a:ext cx="384048" cy="384048"/>
          </a:xfrm>
          <a:prstGeom prst="ellipse">
            <a:avLst/>
          </a:prstGeom>
          <a:solidFill>
            <a:srgbClr val="2F9E5B"/>
          </a:solidFill>
          <a:ln/>
        </p:spPr>
      </p:sp>
      <p:sp>
        <p:nvSpPr>
          <p:cNvPr id="35" name="Text 33"/>
          <p:cNvSpPr/>
          <p:nvPr/>
        </p:nvSpPr>
        <p:spPr>
          <a:xfrm>
            <a:off x="8275320" y="34747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anumGothicExtraBold" pitchFamily="34" charset="0"/>
                <a:ea typeface="NanumGothicExtraBold" pitchFamily="34" charset="-122"/>
                <a:cs typeface="NanumGothicExtraBold" pitchFamily="34" charset="-120"/>
              </a:rPr>
              <a:t>3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8778240" y="3429000"/>
            <a:ext cx="286207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D1D1F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작성이 끝나면 [검토 제출]로 홀딩스에 제출합니다.</a:t>
            </a:r>
            <a:endParaRPr lang="en-US" sz="1150" dirty="0"/>
          </a:p>
        </p:txBody>
      </p:sp>
      <p:sp>
        <p:nvSpPr>
          <p:cNvPr id="37" name="Text 35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1A1A6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대교홀딩스 SMART 사업계획 관리 시스템 · 계열사 담당자 가이드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1A1A6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5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D1D1F"/>
                </a:solidFill>
                <a:latin typeface="NanumGothicExtraBold" pitchFamily="34" charset="0"/>
                <a:ea typeface="NanumGothicExtraBold" pitchFamily="34" charset="-122"/>
                <a:cs typeface="NanumGothicExtraBold" pitchFamily="34" charset="-120"/>
              </a:rPr>
              <a:t>6. 목표 작성 ② — 핵심지표(KPI) 유형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841248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E6E73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목표는 정량 지표와 정성 지표를 모두 지원합니다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362956" cy="178308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E5E5EA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1947672"/>
            <a:ext cx="1005840" cy="329184"/>
          </a:xfrm>
          <a:prstGeom prst="roundRect">
            <a:avLst>
              <a:gd name="adj" fmla="val 50000"/>
            </a:avLst>
          </a:prstGeom>
          <a:solidFill>
            <a:srgbClr val="4C6FA5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947672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NanumGothicExtraBold" pitchFamily="34" charset="0"/>
                <a:ea typeface="NanumGothicExtraBold" pitchFamily="34" charset="-122"/>
                <a:cs typeface="NanumGothicExtraBold" pitchFamily="34" charset="-120"/>
              </a:rPr>
              <a:t>정량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1965960" y="1874520"/>
            <a:ext cx="36713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D1D1F"/>
                </a:solidFill>
                <a:latin typeface="NanumGothicExtraBold" pitchFamily="34" charset="0"/>
                <a:ea typeface="NanumGothicExtraBold" pitchFamily="34" charset="-122"/>
                <a:cs typeface="NanumGothicExtraBold" pitchFamily="34" charset="-120"/>
              </a:rPr>
              <a:t>증가형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22960" y="2468880"/>
            <a:ext cx="481431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E6E73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예: 회원 수, 매출액 — 실적이 목표값에 가까울수록(클수록) 높은 달성률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277356" y="1691640"/>
            <a:ext cx="5362956" cy="178308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E5E5EA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551676" y="1947672"/>
            <a:ext cx="1005840" cy="329184"/>
          </a:xfrm>
          <a:prstGeom prst="roundRect">
            <a:avLst>
              <a:gd name="adj" fmla="val 50000"/>
            </a:avLst>
          </a:prstGeom>
          <a:solidFill>
            <a:srgbClr val="4C6FA5"/>
          </a:solidFill>
          <a:ln/>
        </p:spPr>
      </p:sp>
      <p:sp>
        <p:nvSpPr>
          <p:cNvPr id="11" name="Text 9"/>
          <p:cNvSpPr/>
          <p:nvPr/>
        </p:nvSpPr>
        <p:spPr>
          <a:xfrm>
            <a:off x="6551676" y="1947672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NanumGothicExtraBold" pitchFamily="34" charset="0"/>
                <a:ea typeface="NanumGothicExtraBold" pitchFamily="34" charset="-122"/>
                <a:cs typeface="NanumGothicExtraBold" pitchFamily="34" charset="-120"/>
              </a:rPr>
              <a:t>정량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7694676" y="1874520"/>
            <a:ext cx="36713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D1D1F"/>
                </a:solidFill>
                <a:latin typeface="NanumGothicExtraBold" pitchFamily="34" charset="0"/>
                <a:ea typeface="NanumGothicExtraBold" pitchFamily="34" charset="-122"/>
                <a:cs typeface="NanumGothicExtraBold" pitchFamily="34" charset="-120"/>
              </a:rPr>
              <a:t>감소형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6551676" y="2468880"/>
            <a:ext cx="481431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E6E73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예: 원가율, 불량률 — 실적이 목표값에 가까울수록(작을수록) 높은 달성률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48640" y="3794760"/>
            <a:ext cx="5362956" cy="178308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E5E5EA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22960" y="4050792"/>
            <a:ext cx="1005840" cy="329184"/>
          </a:xfrm>
          <a:prstGeom prst="roundRect">
            <a:avLst>
              <a:gd name="adj" fmla="val 50000"/>
            </a:avLst>
          </a:prstGeom>
          <a:solidFill>
            <a:srgbClr val="C98A1F"/>
          </a:solidFill>
          <a:ln/>
        </p:spPr>
      </p:sp>
      <p:sp>
        <p:nvSpPr>
          <p:cNvPr id="16" name="Text 14"/>
          <p:cNvSpPr/>
          <p:nvPr/>
        </p:nvSpPr>
        <p:spPr>
          <a:xfrm>
            <a:off x="822960" y="4050792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NanumGothicExtraBold" pitchFamily="34" charset="0"/>
                <a:ea typeface="NanumGothicExtraBold" pitchFamily="34" charset="-122"/>
                <a:cs typeface="NanumGothicExtraBold" pitchFamily="34" charset="-120"/>
              </a:rPr>
              <a:t>정성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1965960" y="3977640"/>
            <a:ext cx="36713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D1D1F"/>
                </a:solidFill>
                <a:latin typeface="NanumGothicExtraBold" pitchFamily="34" charset="0"/>
                <a:ea typeface="NanumGothicExtraBold" pitchFamily="34" charset="-122"/>
                <a:cs typeface="NanumGothicExtraBold" pitchFamily="34" charset="-120"/>
              </a:rPr>
              <a:t>마일스톤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822960" y="4572000"/>
            <a:ext cx="481431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E6E73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예: 시스템 구축 완료 — 완료 / 미완료로만 관리, 기준값·목표값 불필요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277356" y="3794760"/>
            <a:ext cx="5362956" cy="178308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E5E5EA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551676" y="4050792"/>
            <a:ext cx="1005840" cy="329184"/>
          </a:xfrm>
          <a:prstGeom prst="roundRect">
            <a:avLst>
              <a:gd name="adj" fmla="val 50000"/>
            </a:avLst>
          </a:prstGeom>
          <a:solidFill>
            <a:srgbClr val="C98A1F"/>
          </a:solidFill>
          <a:ln/>
        </p:spPr>
      </p:sp>
      <p:sp>
        <p:nvSpPr>
          <p:cNvPr id="21" name="Text 19"/>
          <p:cNvSpPr/>
          <p:nvPr/>
        </p:nvSpPr>
        <p:spPr>
          <a:xfrm>
            <a:off x="6551676" y="4050792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NanumGothicExtraBold" pitchFamily="34" charset="0"/>
                <a:ea typeface="NanumGothicExtraBold" pitchFamily="34" charset="-122"/>
                <a:cs typeface="NanumGothicExtraBold" pitchFamily="34" charset="-120"/>
              </a:rPr>
              <a:t>정성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7694676" y="3977640"/>
            <a:ext cx="36713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D1D1F"/>
                </a:solidFill>
                <a:latin typeface="NanumGothicExtraBold" pitchFamily="34" charset="0"/>
                <a:ea typeface="NanumGothicExtraBold" pitchFamily="34" charset="-122"/>
                <a:cs typeface="NanumGothicExtraBold" pitchFamily="34" charset="-120"/>
              </a:rPr>
              <a:t>진척도(%)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6551676" y="4572000"/>
            <a:ext cx="481431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E6E73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예: 프로젝트 추진율 — 담당자가 매 기간 0~100%를 직접 자가평가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1A1A6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대교홀딩스 SMART 사업계획 관리 시스템 · 계열사 담당자 가이드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1A1A6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5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D1D1F"/>
                </a:solidFill>
                <a:latin typeface="NanumGothicExtraBold" pitchFamily="34" charset="0"/>
                <a:ea typeface="NanumGothicExtraBold" pitchFamily="34" charset="-122"/>
                <a:cs typeface="NanumGothicExtraBold" pitchFamily="34" charset="-120"/>
              </a:rPr>
              <a:t>6. 목표 작성 ③ — 목표값 설정 방식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841248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E6E73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정량 지표는 연간 목표값과 월별 · 분기별 목표값을 선택해 입력할 수 있습니다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6858000" cy="4892040"/>
          </a:xfrm>
          <a:prstGeom prst="roundRect">
            <a:avLst>
              <a:gd name="adj" fmla="val 1121"/>
            </a:avLst>
          </a:prstGeom>
          <a:solidFill>
            <a:srgbClr val="FFFFFF"/>
          </a:solidFill>
          <a:ln w="12700">
            <a:solidFill>
              <a:srgbClr val="E5E5EA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1618488"/>
            <a:ext cx="6309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D1D1F"/>
                </a:solidFill>
                <a:latin typeface="NanumGothicExtraBold" pitchFamily="34" charset="0"/>
                <a:ea typeface="NanumGothicExtraBold" pitchFamily="34" charset="-122"/>
                <a:cs typeface="NanumGothicExtraBold" pitchFamily="34" charset="-120"/>
              </a:rPr>
              <a:t>목표값 설정 (하나 이상 선택)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822960" y="1984248"/>
            <a:ext cx="201168" cy="201168"/>
          </a:xfrm>
          <a:prstGeom prst="roundRect">
            <a:avLst>
              <a:gd name="adj" fmla="val 18182"/>
            </a:avLst>
          </a:prstGeom>
          <a:solidFill>
            <a:srgbClr val="3A4356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1965960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✓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097280" y="193852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D1D1F"/>
                </a:solidFill>
                <a:latin typeface="NanumGothicExtraBold" pitchFamily="34" charset="0"/>
                <a:ea typeface="NanumGothicExtraBold" pitchFamily="34" charset="-122"/>
                <a:cs typeface="NanumGothicExtraBold" pitchFamily="34" charset="-120"/>
              </a:rPr>
              <a:t>연간(최종) 목표값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1097280" y="2240280"/>
            <a:ext cx="2103120" cy="365760"/>
          </a:xfrm>
          <a:prstGeom prst="roundRect">
            <a:avLst>
              <a:gd name="adj" fmla="val 12500"/>
            </a:avLst>
          </a:prstGeom>
          <a:solidFill>
            <a:srgbClr val="F5F5F7"/>
          </a:solidFill>
          <a:ln w="12700">
            <a:solidFill>
              <a:srgbClr val="E5E5E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234440" y="22402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D1D1F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1,200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22960" y="2834640"/>
            <a:ext cx="201168" cy="201168"/>
          </a:xfrm>
          <a:prstGeom prst="roundRect">
            <a:avLst>
              <a:gd name="adj" fmla="val 18182"/>
            </a:avLst>
          </a:prstGeom>
          <a:solidFill>
            <a:srgbClr val="3A4356"/>
          </a:solidFill>
          <a:ln/>
        </p:spPr>
      </p:sp>
      <p:sp>
        <p:nvSpPr>
          <p:cNvPr id="12" name="Text 10"/>
          <p:cNvSpPr/>
          <p:nvPr/>
        </p:nvSpPr>
        <p:spPr>
          <a:xfrm>
            <a:off x="822960" y="2816352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✓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097280" y="278892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D1D1F"/>
                </a:solidFill>
                <a:latin typeface="NanumGothicExtraBold" pitchFamily="34" charset="0"/>
                <a:ea typeface="NanumGothicExtraBold" pitchFamily="34" charset="-122"/>
                <a:cs typeface="NanumGothicExtraBold" pitchFamily="34" charset="-120"/>
              </a:rPr>
              <a:t>월별 · 분기별 목표값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22960" y="3154680"/>
            <a:ext cx="1508760" cy="457200"/>
          </a:xfrm>
          <a:prstGeom prst="roundRect">
            <a:avLst>
              <a:gd name="adj" fmla="val 10000"/>
            </a:avLst>
          </a:prstGeom>
          <a:solidFill>
            <a:srgbClr val="F5F5F7"/>
          </a:solidFill>
          <a:ln w="12700">
            <a:solidFill>
              <a:srgbClr val="E5E5E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96112" y="3191256"/>
            <a:ext cx="13624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1A1A6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1월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96112" y="3337560"/>
            <a:ext cx="13624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1A1A6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-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423160" y="3154680"/>
            <a:ext cx="1508760" cy="457200"/>
          </a:xfrm>
          <a:prstGeom prst="roundRect">
            <a:avLst>
              <a:gd name="adj" fmla="val 10000"/>
            </a:avLst>
          </a:prstGeom>
          <a:solidFill>
            <a:srgbClr val="F5F5F7"/>
          </a:solidFill>
          <a:ln w="12700">
            <a:solidFill>
              <a:srgbClr val="E5E5E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496312" y="3191256"/>
            <a:ext cx="13624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1A1A6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2월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2496312" y="3337560"/>
            <a:ext cx="13624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1A1A6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-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023360" y="3154680"/>
            <a:ext cx="1508760" cy="457200"/>
          </a:xfrm>
          <a:prstGeom prst="roundRect">
            <a:avLst>
              <a:gd name="adj" fmla="val 10000"/>
            </a:avLst>
          </a:prstGeom>
          <a:solidFill>
            <a:srgbClr val="F5F5F7"/>
          </a:solidFill>
          <a:ln w="12700">
            <a:solidFill>
              <a:srgbClr val="E5E5E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096512" y="3191256"/>
            <a:ext cx="13624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1A1A6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3월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4096512" y="3337560"/>
            <a:ext cx="13624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D1D1F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100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5623560" y="3154680"/>
            <a:ext cx="1508760" cy="457200"/>
          </a:xfrm>
          <a:prstGeom prst="roundRect">
            <a:avLst>
              <a:gd name="adj" fmla="val 10000"/>
            </a:avLst>
          </a:prstGeom>
          <a:solidFill>
            <a:srgbClr val="F5F5F7"/>
          </a:solidFill>
          <a:ln w="12700">
            <a:solidFill>
              <a:srgbClr val="E5E5E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696712" y="3191256"/>
            <a:ext cx="13624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1A1A6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4월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5696712" y="3337560"/>
            <a:ext cx="13624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1A1A6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-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822960" y="3685032"/>
            <a:ext cx="1508760" cy="457200"/>
          </a:xfrm>
          <a:prstGeom prst="roundRect">
            <a:avLst>
              <a:gd name="adj" fmla="val 10000"/>
            </a:avLst>
          </a:prstGeom>
          <a:solidFill>
            <a:srgbClr val="F5F5F7"/>
          </a:solidFill>
          <a:ln w="12700">
            <a:solidFill>
              <a:srgbClr val="E5E5E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96112" y="3721608"/>
            <a:ext cx="13624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1A1A6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5월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896112" y="3867912"/>
            <a:ext cx="13624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D1D1F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100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2423160" y="3685032"/>
            <a:ext cx="1508760" cy="457200"/>
          </a:xfrm>
          <a:prstGeom prst="roundRect">
            <a:avLst>
              <a:gd name="adj" fmla="val 10000"/>
            </a:avLst>
          </a:prstGeom>
          <a:solidFill>
            <a:srgbClr val="F5F5F7"/>
          </a:solidFill>
          <a:ln w="12700">
            <a:solidFill>
              <a:srgbClr val="E5E5E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496312" y="3721608"/>
            <a:ext cx="13624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1A1A6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6월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2496312" y="3867912"/>
            <a:ext cx="13624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1A1A6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-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023360" y="3685032"/>
            <a:ext cx="1508760" cy="457200"/>
          </a:xfrm>
          <a:prstGeom prst="roundRect">
            <a:avLst>
              <a:gd name="adj" fmla="val 10000"/>
            </a:avLst>
          </a:prstGeom>
          <a:solidFill>
            <a:srgbClr val="F5F5F7"/>
          </a:solidFill>
          <a:ln w="12700">
            <a:solidFill>
              <a:srgbClr val="E5E5E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096512" y="3721608"/>
            <a:ext cx="13624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1A1A6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7월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4096512" y="3867912"/>
            <a:ext cx="13624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1A1A6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-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5623560" y="3685032"/>
            <a:ext cx="1508760" cy="457200"/>
          </a:xfrm>
          <a:prstGeom prst="roundRect">
            <a:avLst>
              <a:gd name="adj" fmla="val 10000"/>
            </a:avLst>
          </a:prstGeom>
          <a:solidFill>
            <a:srgbClr val="F5F5F7"/>
          </a:solidFill>
          <a:ln w="12700">
            <a:solidFill>
              <a:srgbClr val="E5E5E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696712" y="3721608"/>
            <a:ext cx="13624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1A1A6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8월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5696712" y="3867912"/>
            <a:ext cx="13624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1A1A6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-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822960" y="4215384"/>
            <a:ext cx="1508760" cy="457200"/>
          </a:xfrm>
          <a:prstGeom prst="roundRect">
            <a:avLst>
              <a:gd name="adj" fmla="val 10000"/>
            </a:avLst>
          </a:prstGeom>
          <a:solidFill>
            <a:srgbClr val="F5F5F7"/>
          </a:solidFill>
          <a:ln w="12700">
            <a:solidFill>
              <a:srgbClr val="E5E5E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896112" y="4251960"/>
            <a:ext cx="13624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1A1A6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9월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896112" y="4398264"/>
            <a:ext cx="13624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1A1A6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-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2423160" y="4215384"/>
            <a:ext cx="1508760" cy="457200"/>
          </a:xfrm>
          <a:prstGeom prst="roundRect">
            <a:avLst>
              <a:gd name="adj" fmla="val 10000"/>
            </a:avLst>
          </a:prstGeom>
          <a:solidFill>
            <a:srgbClr val="F5F5F7"/>
          </a:solidFill>
          <a:ln w="12700">
            <a:solidFill>
              <a:srgbClr val="E5E5EA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2496312" y="4251960"/>
            <a:ext cx="13624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1A1A6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10월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2496312" y="4398264"/>
            <a:ext cx="13624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1A1A6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-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4023360" y="4215384"/>
            <a:ext cx="1508760" cy="457200"/>
          </a:xfrm>
          <a:prstGeom prst="roundRect">
            <a:avLst>
              <a:gd name="adj" fmla="val 10000"/>
            </a:avLst>
          </a:prstGeom>
          <a:solidFill>
            <a:srgbClr val="F5F5F7"/>
          </a:solidFill>
          <a:ln w="12700">
            <a:solidFill>
              <a:srgbClr val="E5E5EA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096512" y="4251960"/>
            <a:ext cx="13624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1A1A6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11월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4096512" y="4398264"/>
            <a:ext cx="13624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1A1A6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-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5623560" y="4215384"/>
            <a:ext cx="1508760" cy="457200"/>
          </a:xfrm>
          <a:prstGeom prst="roundRect">
            <a:avLst>
              <a:gd name="adj" fmla="val 10000"/>
            </a:avLst>
          </a:prstGeom>
          <a:solidFill>
            <a:srgbClr val="F5F5F7"/>
          </a:solidFill>
          <a:ln w="12700">
            <a:solidFill>
              <a:srgbClr val="E5E5EA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696712" y="4251960"/>
            <a:ext cx="13624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1A1A6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12월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5696712" y="4398264"/>
            <a:ext cx="13624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1A1A6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-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822960" y="4800600"/>
            <a:ext cx="6309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E6E73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비워둔 월은 그 달의 목표값이 없다는 뜻이며, 연간 목표값을 기준으로 달성률을 계산합니다.</a:t>
            </a:r>
            <a:endParaRPr lang="en-US" sz="1050" dirty="0"/>
          </a:p>
        </p:txBody>
      </p:sp>
      <p:sp>
        <p:nvSpPr>
          <p:cNvPr id="51" name="Shape 49"/>
          <p:cNvSpPr/>
          <p:nvPr/>
        </p:nvSpPr>
        <p:spPr>
          <a:xfrm>
            <a:off x="822960" y="5212080"/>
            <a:ext cx="6309360" cy="731520"/>
          </a:xfrm>
          <a:prstGeom prst="rect">
            <a:avLst/>
          </a:prstGeom>
          <a:solidFill>
            <a:srgbClr val="FAF1DE"/>
          </a:solidFill>
          <a:ln/>
        </p:spPr>
      </p:sp>
      <p:sp>
        <p:nvSpPr>
          <p:cNvPr id="52" name="Text 50"/>
          <p:cNvSpPr/>
          <p:nvPr/>
        </p:nvSpPr>
        <p:spPr>
          <a:xfrm>
            <a:off x="1005840" y="5212080"/>
            <a:ext cx="5943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98A1F"/>
                </a:solidFill>
                <a:latin typeface="NanumGothicExtraBold" pitchFamily="34" charset="0"/>
                <a:ea typeface="NanumGothicExtraBold" pitchFamily="34" charset="-122"/>
                <a:cs typeface="NanumGothicExtraBold" pitchFamily="34" charset="-120"/>
              </a:rPr>
              <a:t>⚠  연간 목표값 / 월별·분기별 목표값 중 최소 하나는 반드시 선택해야 저장됩니다.</a:t>
            </a:r>
            <a:endParaRPr lang="en-US" sz="1100" dirty="0"/>
          </a:p>
        </p:txBody>
      </p:sp>
      <p:sp>
        <p:nvSpPr>
          <p:cNvPr id="53" name="Shape 51"/>
          <p:cNvSpPr/>
          <p:nvPr/>
        </p:nvSpPr>
        <p:spPr>
          <a:xfrm>
            <a:off x="7726680" y="1691640"/>
            <a:ext cx="365760" cy="365760"/>
          </a:xfrm>
          <a:prstGeom prst="ellipse">
            <a:avLst/>
          </a:prstGeom>
          <a:solidFill>
            <a:srgbClr val="4C6FA5"/>
          </a:solidFill>
          <a:ln/>
        </p:spPr>
      </p:sp>
      <p:sp>
        <p:nvSpPr>
          <p:cNvPr id="54" name="Text 52"/>
          <p:cNvSpPr/>
          <p:nvPr/>
        </p:nvSpPr>
        <p:spPr>
          <a:xfrm>
            <a:off x="7726680" y="16916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anumGothicExtraBold" pitchFamily="34" charset="0"/>
                <a:ea typeface="NanumGothicExtraBold" pitchFamily="34" charset="-122"/>
                <a:cs typeface="NanumGothicExtraBold" pitchFamily="34" charset="-120"/>
              </a:rPr>
              <a:t>1</a:t>
            </a:r>
            <a:endParaRPr lang="en-US" sz="1200" dirty="0"/>
          </a:p>
        </p:txBody>
      </p:sp>
      <p:sp>
        <p:nvSpPr>
          <p:cNvPr id="55" name="Text 53"/>
          <p:cNvSpPr/>
          <p:nvPr/>
        </p:nvSpPr>
        <p:spPr>
          <a:xfrm>
            <a:off x="8211312" y="1600200"/>
            <a:ext cx="350215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D1D1F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연간 목표값만 쓰면 1년 전체 실적을 하나의 목표값으로 평가합니다.</a:t>
            </a:r>
            <a:endParaRPr lang="en-US" sz="1100" dirty="0"/>
          </a:p>
        </p:txBody>
      </p:sp>
      <p:sp>
        <p:nvSpPr>
          <p:cNvPr id="56" name="Shape 54"/>
          <p:cNvSpPr/>
          <p:nvPr/>
        </p:nvSpPr>
        <p:spPr>
          <a:xfrm>
            <a:off x="7726680" y="2926080"/>
            <a:ext cx="365760" cy="365760"/>
          </a:xfrm>
          <a:prstGeom prst="ellipse">
            <a:avLst/>
          </a:prstGeom>
          <a:solidFill>
            <a:srgbClr val="2F9E5B"/>
          </a:solidFill>
          <a:ln/>
        </p:spPr>
      </p:sp>
      <p:sp>
        <p:nvSpPr>
          <p:cNvPr id="57" name="Text 55"/>
          <p:cNvSpPr/>
          <p:nvPr/>
        </p:nvSpPr>
        <p:spPr>
          <a:xfrm>
            <a:off x="7726680" y="29260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anumGothicExtraBold" pitchFamily="34" charset="0"/>
                <a:ea typeface="NanumGothicExtraBold" pitchFamily="34" charset="-122"/>
                <a:cs typeface="NanumGothicExtraBold" pitchFamily="34" charset="-120"/>
              </a:rPr>
              <a:t>2</a:t>
            </a:r>
            <a:endParaRPr lang="en-US" sz="1200" dirty="0"/>
          </a:p>
        </p:txBody>
      </p:sp>
      <p:sp>
        <p:nvSpPr>
          <p:cNvPr id="58" name="Text 56"/>
          <p:cNvSpPr/>
          <p:nvPr/>
        </p:nvSpPr>
        <p:spPr>
          <a:xfrm>
            <a:off x="8211312" y="2834640"/>
            <a:ext cx="350215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D1D1F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월별 · 분기별 목표값을 쓰면 성수기 · 비수기처럼 달마다 다른 목표를 반영할 수 있습니다.</a:t>
            </a:r>
            <a:endParaRPr lang="en-US" sz="1100" dirty="0"/>
          </a:p>
        </p:txBody>
      </p:sp>
      <p:sp>
        <p:nvSpPr>
          <p:cNvPr id="59" name="Shape 57"/>
          <p:cNvSpPr/>
          <p:nvPr/>
        </p:nvSpPr>
        <p:spPr>
          <a:xfrm>
            <a:off x="7726680" y="4160520"/>
            <a:ext cx="365760" cy="365760"/>
          </a:xfrm>
          <a:prstGeom prst="ellipse">
            <a:avLst/>
          </a:prstGeom>
          <a:solidFill>
            <a:srgbClr val="3A4356"/>
          </a:solidFill>
          <a:ln/>
        </p:spPr>
      </p:sp>
      <p:sp>
        <p:nvSpPr>
          <p:cNvPr id="60" name="Text 58"/>
          <p:cNvSpPr/>
          <p:nvPr/>
        </p:nvSpPr>
        <p:spPr>
          <a:xfrm>
            <a:off x="7726680" y="41605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anumGothicExtraBold" pitchFamily="34" charset="0"/>
                <a:ea typeface="NanumGothicExtraBold" pitchFamily="34" charset="-122"/>
                <a:cs typeface="NanumGothicExtraBold" pitchFamily="34" charset="-120"/>
              </a:rPr>
              <a:t>3</a:t>
            </a:r>
            <a:endParaRPr lang="en-US" sz="1200" dirty="0"/>
          </a:p>
        </p:txBody>
      </p:sp>
      <p:sp>
        <p:nvSpPr>
          <p:cNvPr id="61" name="Text 59"/>
          <p:cNvSpPr/>
          <p:nvPr/>
        </p:nvSpPr>
        <p:spPr>
          <a:xfrm>
            <a:off x="8211312" y="4069080"/>
            <a:ext cx="350215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D1D1F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두 가지를 동시에 설정하면, 값이 입력된 달은 그 달의 목표값이 우선 적용됩니다.</a:t>
            </a:r>
            <a:endParaRPr lang="en-US" sz="1100" dirty="0"/>
          </a:p>
        </p:txBody>
      </p:sp>
      <p:sp>
        <p:nvSpPr>
          <p:cNvPr id="62" name="Text 60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1A1A6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대교홀딩스 SMART 사업계획 관리 시스템 · 계열사 담당자 가이드</a:t>
            </a:r>
            <a:endParaRPr lang="en-US" sz="900" dirty="0"/>
          </a:p>
        </p:txBody>
      </p:sp>
      <p:sp>
        <p:nvSpPr>
          <p:cNvPr id="63" name="Text 61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1A1A6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5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D1D1F"/>
                </a:solidFill>
                <a:latin typeface="NanumGothicExtraBold" pitchFamily="34" charset="0"/>
                <a:ea typeface="NanumGothicExtraBold" pitchFamily="34" charset="-122"/>
                <a:cs typeface="NanumGothicExtraBold" pitchFamily="34" charset="-120"/>
              </a:rPr>
              <a:t>7. 제출과 검토 · 승인 프로세스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841248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E6E73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목표 상태값의 의미를 알아두면 지금 무엇을 해야 할지 알 수 있습니다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1091672" cy="77724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E5E5EA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1938528"/>
            <a:ext cx="1737360" cy="274320"/>
          </a:xfrm>
          <a:prstGeom prst="roundRect">
            <a:avLst>
              <a:gd name="adj" fmla="val 50000"/>
            </a:avLst>
          </a:prstGeom>
          <a:solidFill>
            <a:srgbClr val="F0F0F2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938528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E6E73"/>
                </a:solidFill>
                <a:latin typeface="NanumGothicExtraBold" pitchFamily="34" charset="0"/>
                <a:ea typeface="NanumGothicExtraBold" pitchFamily="34" charset="-122"/>
                <a:cs typeface="NanumGothicExtraBold" pitchFamily="34" charset="-120"/>
              </a:rPr>
              <a:t>임시저장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2743200" y="1783080"/>
            <a:ext cx="88971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D1D1F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작성 중이며 아직 제출 전. 자유롭게 수정 가능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2624328"/>
            <a:ext cx="11091672" cy="77724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E5E5EA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777240" y="2871216"/>
            <a:ext cx="1737360" cy="274320"/>
          </a:xfrm>
          <a:prstGeom prst="roundRect">
            <a:avLst>
              <a:gd name="adj" fmla="val 50000"/>
            </a:avLst>
          </a:prstGeom>
          <a:solidFill>
            <a:srgbClr val="EAF0F8"/>
          </a:solidFill>
          <a:ln/>
        </p:spPr>
      </p:sp>
      <p:sp>
        <p:nvSpPr>
          <p:cNvPr id="10" name="Text 8"/>
          <p:cNvSpPr/>
          <p:nvPr/>
        </p:nvSpPr>
        <p:spPr>
          <a:xfrm>
            <a:off x="777240" y="2871216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4C6FA5"/>
                </a:solidFill>
                <a:latin typeface="NanumGothicExtraBold" pitchFamily="34" charset="0"/>
                <a:ea typeface="NanumGothicExtraBold" pitchFamily="34" charset="-122"/>
                <a:cs typeface="NanumGothicExtraBold" pitchFamily="34" charset="-120"/>
              </a:rPr>
              <a:t>제출됨(검토대기)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2743200" y="2715768"/>
            <a:ext cx="88971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D1D1F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담당자가 제출, 홀딩스 검토 대기 중. 필요시 [제출취소]로 되돌릴 수 있음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3557016"/>
            <a:ext cx="11091672" cy="77724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E5E5EA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777240" y="3803904"/>
            <a:ext cx="1737360" cy="274320"/>
          </a:xfrm>
          <a:prstGeom prst="roundRect">
            <a:avLst>
              <a:gd name="adj" fmla="val 50000"/>
            </a:avLst>
          </a:prstGeom>
          <a:solidFill>
            <a:srgbClr val="FAF1DE"/>
          </a:solidFill>
          <a:ln/>
        </p:spPr>
      </p:sp>
      <p:sp>
        <p:nvSpPr>
          <p:cNvPr id="14" name="Text 12"/>
          <p:cNvSpPr/>
          <p:nvPr/>
        </p:nvSpPr>
        <p:spPr>
          <a:xfrm>
            <a:off x="777240" y="3803904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C98A1F"/>
                </a:solidFill>
                <a:latin typeface="NanumGothicExtraBold" pitchFamily="34" charset="0"/>
                <a:ea typeface="NanumGothicExtraBold" pitchFamily="34" charset="-122"/>
                <a:cs typeface="NanumGothicExtraBold" pitchFamily="34" charset="-120"/>
              </a:rPr>
              <a:t>수정요청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743200" y="3648456"/>
            <a:ext cx="88971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D1D1F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홀딩스가 반려하며 의견을 남김. 내용을 고쳐 다시 제출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4489704"/>
            <a:ext cx="11091672" cy="77724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E5E5EA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777240" y="4736592"/>
            <a:ext cx="1737360" cy="274320"/>
          </a:xfrm>
          <a:prstGeom prst="roundRect">
            <a:avLst>
              <a:gd name="adj" fmla="val 50000"/>
            </a:avLst>
          </a:prstGeom>
          <a:solidFill>
            <a:srgbClr val="E7F5EC"/>
          </a:solidFill>
          <a:ln/>
        </p:spPr>
      </p:sp>
      <p:sp>
        <p:nvSpPr>
          <p:cNvPr id="18" name="Text 16"/>
          <p:cNvSpPr/>
          <p:nvPr/>
        </p:nvSpPr>
        <p:spPr>
          <a:xfrm>
            <a:off x="777240" y="4736592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F9E5B"/>
                </a:solidFill>
                <a:latin typeface="NanumGothicExtraBold" pitchFamily="34" charset="0"/>
                <a:ea typeface="NanumGothicExtraBold" pitchFamily="34" charset="-122"/>
                <a:cs typeface="NanumGothicExtraBold" pitchFamily="34" charset="-120"/>
              </a:rPr>
              <a:t>승인완료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2743200" y="4581144"/>
            <a:ext cx="88971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D1D1F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홀딩스 검토 통과. 이제부터 진행실적 입력 가능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48640" y="5422392"/>
            <a:ext cx="11091672" cy="77724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E5E5EA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777240" y="5669280"/>
            <a:ext cx="1737360" cy="274320"/>
          </a:xfrm>
          <a:prstGeom prst="roundRect">
            <a:avLst>
              <a:gd name="adj" fmla="val 50000"/>
            </a:avLst>
          </a:prstGeom>
          <a:solidFill>
            <a:srgbClr val="ECEEF1"/>
          </a:solidFill>
          <a:ln/>
        </p:spPr>
      </p:sp>
      <p:sp>
        <p:nvSpPr>
          <p:cNvPr id="22" name="Text 20"/>
          <p:cNvSpPr/>
          <p:nvPr/>
        </p:nvSpPr>
        <p:spPr>
          <a:xfrm>
            <a:off x="777240" y="566928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3A4356"/>
                </a:solidFill>
                <a:latin typeface="NanumGothicExtraBold" pitchFamily="34" charset="0"/>
                <a:ea typeface="NanumGothicExtraBold" pitchFamily="34" charset="-122"/>
                <a:cs typeface="NanumGothicExtraBold" pitchFamily="34" charset="-120"/>
              </a:rPr>
              <a:t>잠김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2743200" y="5513832"/>
            <a:ext cx="88971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D1D1F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최종 확정. 수정하려면 [변경요청]으로만 가능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1A1A6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대교홀딩스 SMART 사업계획 관리 시스템 · 계열사 담당자 가이드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1A1A6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5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D1D1F"/>
                </a:solidFill>
                <a:latin typeface="NanumGothicExtraBold" pitchFamily="34" charset="0"/>
                <a:ea typeface="NanumGothicExtraBold" pitchFamily="34" charset="-122"/>
                <a:cs typeface="NanumGothicExtraBold" pitchFamily="34" charset="-120"/>
              </a:rPr>
              <a:t>8. 목표 목록 화면 사용법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841248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E6E73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[사업계획 목표] 메뉴에서 우리 회사의 모든 목표를 확인합니다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640080" y="1554480"/>
            <a:ext cx="10908792" cy="3794760"/>
          </a:xfrm>
          <a:prstGeom prst="roundRect">
            <a:avLst>
              <a:gd name="adj" fmla="val 1446"/>
            </a:avLst>
          </a:prstGeom>
          <a:solidFill>
            <a:srgbClr val="FFFFFF"/>
          </a:solidFill>
          <a:ln w="12700">
            <a:solidFill>
              <a:srgbClr val="E5E5EA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554480"/>
            <a:ext cx="1737360" cy="3794760"/>
          </a:xfrm>
          <a:prstGeom prst="rect">
            <a:avLst/>
          </a:prstGeom>
          <a:solidFill>
            <a:srgbClr val="3A4356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682496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anumGothicExtraBold" pitchFamily="34" charset="0"/>
                <a:ea typeface="NanumGothicExtraBold" pitchFamily="34" charset="-122"/>
                <a:cs typeface="NanumGothicExtraBold" pitchFamily="34" charset="-120"/>
              </a:rPr>
              <a:t>SMART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77240" y="1901952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7CCD6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대교홀딩스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41248" y="233172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7CCD6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대시보드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749808" y="2679192"/>
            <a:ext cx="1517904" cy="310896"/>
          </a:xfrm>
          <a:prstGeom prst="roundRect">
            <a:avLst>
              <a:gd name="adj" fmla="val 14706"/>
            </a:avLst>
          </a:prstGeom>
          <a:solidFill>
            <a:srgbClr val="4A5570"/>
          </a:solidFill>
          <a:ln/>
        </p:spPr>
      </p:sp>
      <p:sp>
        <p:nvSpPr>
          <p:cNvPr id="10" name="Text 8"/>
          <p:cNvSpPr/>
          <p:nvPr/>
        </p:nvSpPr>
        <p:spPr>
          <a:xfrm>
            <a:off x="841248" y="2715768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NanumGothicExtraBold" pitchFamily="34" charset="0"/>
                <a:ea typeface="NanumGothicExtraBold" pitchFamily="34" charset="-122"/>
                <a:cs typeface="NanumGothicExtraBold" pitchFamily="34" charset="-120"/>
              </a:rPr>
              <a:t>사업계획 목표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841248" y="3099816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7CCD6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진행실적 입력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841248" y="3483864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7CCD6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변경요청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2606040" y="1783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A1A1A6"/>
                </a:solidFill>
                <a:latin typeface="NanumGothicExtraBold" pitchFamily="34" charset="0"/>
                <a:ea typeface="NanumGothicExtraBold" pitchFamily="34" charset="-122"/>
                <a:cs typeface="NanumGothicExtraBold" pitchFamily="34" charset="-120"/>
              </a:rPr>
              <a:t>#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063240" y="178308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A1A1A6"/>
                </a:solidFill>
                <a:latin typeface="NanumGothicExtraBold" pitchFamily="34" charset="0"/>
                <a:ea typeface="NanumGothicExtraBold" pitchFamily="34" charset="-122"/>
                <a:cs typeface="NanumGothicExtraBold" pitchFamily="34" charset="-120"/>
              </a:rPr>
              <a:t>사업부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617720" y="1783080"/>
            <a:ext cx="34107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A1A1A6"/>
                </a:solidFill>
                <a:latin typeface="NanumGothicExtraBold" pitchFamily="34" charset="0"/>
                <a:ea typeface="NanumGothicExtraBold" pitchFamily="34" charset="-122"/>
                <a:cs typeface="NanumGothicExtraBold" pitchFamily="34" charset="-120"/>
              </a:rPr>
              <a:t>전략(목표)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8028432" y="178308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A1A1A6"/>
                </a:solidFill>
                <a:latin typeface="NanumGothicExtraBold" pitchFamily="34" charset="0"/>
                <a:ea typeface="NanumGothicExtraBold" pitchFamily="34" charset="-122"/>
                <a:cs typeface="NanumGothicExtraBold" pitchFamily="34" charset="-120"/>
              </a:rPr>
              <a:t>지표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9582912" y="178308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A1A1A6"/>
                </a:solidFill>
                <a:latin typeface="NanumGothicExtraBold" pitchFamily="34" charset="0"/>
                <a:ea typeface="NanumGothicExtraBold" pitchFamily="34" charset="-122"/>
                <a:cs typeface="NanumGothicExtraBold" pitchFamily="34" charset="-120"/>
              </a:rPr>
              <a:t>상태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606040" y="2148840"/>
            <a:ext cx="8714232" cy="0"/>
          </a:xfrm>
          <a:prstGeom prst="line">
            <a:avLst/>
          </a:prstGeom>
          <a:noFill/>
          <a:ln w="9525">
            <a:solidFill>
              <a:srgbClr val="E5E5E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606040" y="2203704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D1D1F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1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3063240" y="2203704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D1D1F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영업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4617720" y="2203704"/>
            <a:ext cx="34107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D1D1F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회원성장 확대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8028432" y="2203704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D1D1F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정기배송 회원수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9674352" y="2231136"/>
            <a:ext cx="1463040" cy="274320"/>
          </a:xfrm>
          <a:prstGeom prst="roundRect">
            <a:avLst>
              <a:gd name="adj" fmla="val 50000"/>
            </a:avLst>
          </a:prstGeom>
          <a:solidFill>
            <a:srgbClr val="E7F5EC"/>
          </a:solidFill>
          <a:ln/>
        </p:spPr>
      </p:sp>
      <p:sp>
        <p:nvSpPr>
          <p:cNvPr id="24" name="Text 22"/>
          <p:cNvSpPr/>
          <p:nvPr/>
        </p:nvSpPr>
        <p:spPr>
          <a:xfrm>
            <a:off x="9674352" y="2231136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F9E5B"/>
                </a:solidFill>
                <a:latin typeface="NanumGothicExtraBold" pitchFamily="34" charset="0"/>
                <a:ea typeface="NanumGothicExtraBold" pitchFamily="34" charset="-122"/>
                <a:cs typeface="NanumGothicExtraBold" pitchFamily="34" charset="-120"/>
              </a:rPr>
              <a:t>승인완료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2606040" y="2624328"/>
            <a:ext cx="8714232" cy="0"/>
          </a:xfrm>
          <a:prstGeom prst="line">
            <a:avLst/>
          </a:prstGeom>
          <a:noFill/>
          <a:ln w="9525">
            <a:solidFill>
              <a:srgbClr val="E5E5E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606040" y="2679192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D1D1F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2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3063240" y="2679192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D1D1F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영업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4617720" y="2679192"/>
            <a:ext cx="34107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D1D1F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고객 유통시장 확장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8028432" y="2679192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D1D1F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포프리/에터미 OEM 매출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9674352" y="2706624"/>
            <a:ext cx="1463040" cy="274320"/>
          </a:xfrm>
          <a:prstGeom prst="roundRect">
            <a:avLst>
              <a:gd name="adj" fmla="val 50000"/>
            </a:avLst>
          </a:prstGeom>
          <a:solidFill>
            <a:srgbClr val="E7F5EC"/>
          </a:solidFill>
          <a:ln/>
        </p:spPr>
      </p:sp>
      <p:sp>
        <p:nvSpPr>
          <p:cNvPr id="31" name="Text 29"/>
          <p:cNvSpPr/>
          <p:nvPr/>
        </p:nvSpPr>
        <p:spPr>
          <a:xfrm>
            <a:off x="9674352" y="270662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F9E5B"/>
                </a:solidFill>
                <a:latin typeface="NanumGothicExtraBold" pitchFamily="34" charset="0"/>
                <a:ea typeface="NanumGothicExtraBold" pitchFamily="34" charset="-122"/>
                <a:cs typeface="NanumGothicExtraBold" pitchFamily="34" charset="-120"/>
              </a:rPr>
              <a:t>승인완료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2606040" y="3099816"/>
            <a:ext cx="8714232" cy="0"/>
          </a:xfrm>
          <a:prstGeom prst="line">
            <a:avLst/>
          </a:prstGeom>
          <a:noFill/>
          <a:ln w="9525">
            <a:solidFill>
              <a:srgbClr val="E5E5E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606040" y="315468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D1D1F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3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3063240" y="315468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D1D1F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영업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4617720" y="3154680"/>
            <a:ext cx="34107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D1D1F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고객 유통시장 확장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8028432" y="315468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D1D1F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고객음용수 매출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9674352" y="3182112"/>
            <a:ext cx="1463040" cy="274320"/>
          </a:xfrm>
          <a:prstGeom prst="roundRect">
            <a:avLst>
              <a:gd name="adj" fmla="val 50000"/>
            </a:avLst>
          </a:prstGeom>
          <a:solidFill>
            <a:srgbClr val="F0F0F2"/>
          </a:solidFill>
          <a:ln/>
        </p:spPr>
      </p:sp>
      <p:sp>
        <p:nvSpPr>
          <p:cNvPr id="38" name="Text 36"/>
          <p:cNvSpPr/>
          <p:nvPr/>
        </p:nvSpPr>
        <p:spPr>
          <a:xfrm>
            <a:off x="9674352" y="318211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E6E73"/>
                </a:solidFill>
                <a:latin typeface="NanumGothicExtraBold" pitchFamily="34" charset="0"/>
                <a:ea typeface="NanumGothicExtraBold" pitchFamily="34" charset="-122"/>
                <a:cs typeface="NanumGothicExtraBold" pitchFamily="34" charset="-120"/>
              </a:rPr>
              <a:t>임시저장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2606040" y="3575304"/>
            <a:ext cx="8714232" cy="0"/>
          </a:xfrm>
          <a:prstGeom prst="line">
            <a:avLst/>
          </a:prstGeom>
          <a:noFill/>
          <a:ln w="9525">
            <a:solidFill>
              <a:srgbClr val="E5E5EA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2606040" y="3630168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D1D1F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4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3063240" y="3630168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D1D1F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생산</a:t>
            </a:r>
            <a:endParaRPr lang="en-US" sz="1050" dirty="0"/>
          </a:p>
        </p:txBody>
      </p:sp>
      <p:sp>
        <p:nvSpPr>
          <p:cNvPr id="42" name="Text 40"/>
          <p:cNvSpPr/>
          <p:nvPr/>
        </p:nvSpPr>
        <p:spPr>
          <a:xfrm>
            <a:off x="4617720" y="3630168"/>
            <a:ext cx="34107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D1D1F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품질 생산효율중심 ESG경영</a:t>
            </a:r>
            <a:endParaRPr lang="en-US" sz="1050" dirty="0"/>
          </a:p>
        </p:txBody>
      </p:sp>
      <p:sp>
        <p:nvSpPr>
          <p:cNvPr id="43" name="Text 41"/>
          <p:cNvSpPr/>
          <p:nvPr/>
        </p:nvSpPr>
        <p:spPr>
          <a:xfrm>
            <a:off x="8028432" y="3630168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D1D1F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CO2 누적 감축량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9674352" y="3657600"/>
            <a:ext cx="1463040" cy="274320"/>
          </a:xfrm>
          <a:prstGeom prst="roundRect">
            <a:avLst>
              <a:gd name="adj" fmla="val 50000"/>
            </a:avLst>
          </a:prstGeom>
          <a:solidFill>
            <a:srgbClr val="F0F0F2"/>
          </a:solidFill>
          <a:ln/>
        </p:spPr>
      </p:sp>
      <p:sp>
        <p:nvSpPr>
          <p:cNvPr id="45" name="Text 43"/>
          <p:cNvSpPr/>
          <p:nvPr/>
        </p:nvSpPr>
        <p:spPr>
          <a:xfrm>
            <a:off x="9674352" y="365760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E6E73"/>
                </a:solidFill>
                <a:latin typeface="NanumGothicExtraBold" pitchFamily="34" charset="0"/>
                <a:ea typeface="NanumGothicExtraBold" pitchFamily="34" charset="-122"/>
                <a:cs typeface="NanumGothicExtraBold" pitchFamily="34" charset="-120"/>
              </a:rPr>
              <a:t>임시저장</a:t>
            </a:r>
            <a:endParaRPr lang="en-US" sz="950" dirty="0"/>
          </a:p>
        </p:txBody>
      </p:sp>
      <p:sp>
        <p:nvSpPr>
          <p:cNvPr id="46" name="Text 44"/>
          <p:cNvSpPr/>
          <p:nvPr/>
        </p:nvSpPr>
        <p:spPr>
          <a:xfrm>
            <a:off x="2606040" y="4142232"/>
            <a:ext cx="8714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A1A1A6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(행 전체를 클릭하면 상세 화면으로 이동)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548640" y="5532120"/>
            <a:ext cx="11091672" cy="914400"/>
          </a:xfrm>
          <a:prstGeom prst="roundRect">
            <a:avLst>
              <a:gd name="adj" fmla="val 5000"/>
            </a:avLst>
          </a:prstGeom>
          <a:solidFill>
            <a:srgbClr val="EEF0F4"/>
          </a:solidFill>
          <a:ln/>
        </p:spPr>
      </p:sp>
      <p:sp>
        <p:nvSpPr>
          <p:cNvPr id="48" name="Text 46"/>
          <p:cNvSpPr/>
          <p:nvPr/>
        </p:nvSpPr>
        <p:spPr>
          <a:xfrm>
            <a:off x="777240" y="5605272"/>
            <a:ext cx="106344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D1D1F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• 전략(목표), 핵심지표, 상태, 최근 검토의견까지 목록에서 바로 확인</a:t>
            </a:r>
            <a:pPr indent="0" marL="0">
              <a:lnSpc>
                <a:spcPct val="120000"/>
              </a:lnSpc>
              <a:buNone/>
            </a:pP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D1D1F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• 행을 클릭하면 SMART 상세 · KPI 달성 현황 · 검토 이력이 있는 상세 화면으로 이동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D1D1F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• 임시저장 · 수정요청 상태일 때만 [수정] 링크로 직접 편집 가능</a:t>
            </a:r>
            <a:endParaRPr lang="en-US" sz="1050" dirty="0"/>
          </a:p>
        </p:txBody>
      </p:sp>
      <p:sp>
        <p:nvSpPr>
          <p:cNvPr id="49" name="Text 47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1A1A6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대교홀딩스 SMART 사업계획 관리 시스템 · 계열사 담당자 가이드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1A1A6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5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D1D1F"/>
                </a:solidFill>
                <a:latin typeface="NanumGothicExtraBold" pitchFamily="34" charset="0"/>
                <a:ea typeface="NanumGothicExtraBold" pitchFamily="34" charset="-122"/>
                <a:cs typeface="NanumGothicExtraBold" pitchFamily="34" charset="-120"/>
              </a:rPr>
              <a:t>9. 진행실적 입력 ① — 목표 선택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841248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E6E73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[진행실적 입력] 메뉴에서 실적을 기록할 목표를 고릅니다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640080" y="1554480"/>
            <a:ext cx="10908792" cy="4709160"/>
          </a:xfrm>
          <a:prstGeom prst="roundRect">
            <a:avLst>
              <a:gd name="adj" fmla="val 1165"/>
            </a:avLst>
          </a:prstGeom>
          <a:solidFill>
            <a:srgbClr val="FFFFFF"/>
          </a:solidFill>
          <a:ln w="12700">
            <a:solidFill>
              <a:srgbClr val="E5E5EA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554480"/>
            <a:ext cx="1737360" cy="4709160"/>
          </a:xfrm>
          <a:prstGeom prst="rect">
            <a:avLst/>
          </a:prstGeom>
          <a:solidFill>
            <a:srgbClr val="3A4356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682496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anumGothicExtraBold" pitchFamily="34" charset="0"/>
                <a:ea typeface="NanumGothicExtraBold" pitchFamily="34" charset="-122"/>
                <a:cs typeface="NanumGothicExtraBold" pitchFamily="34" charset="-120"/>
              </a:rPr>
              <a:t>SMART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77240" y="1901952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7CCD6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대교홀딩스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41248" y="233172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7CCD6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대시보드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841248" y="2715768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7CCD6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사업계획 목표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749808" y="3063240"/>
            <a:ext cx="1517904" cy="310896"/>
          </a:xfrm>
          <a:prstGeom prst="roundRect">
            <a:avLst>
              <a:gd name="adj" fmla="val 14706"/>
            </a:avLst>
          </a:prstGeom>
          <a:solidFill>
            <a:srgbClr val="4A5570"/>
          </a:solidFill>
          <a:ln/>
        </p:spPr>
      </p:sp>
      <p:sp>
        <p:nvSpPr>
          <p:cNvPr id="11" name="Text 9"/>
          <p:cNvSpPr/>
          <p:nvPr/>
        </p:nvSpPr>
        <p:spPr>
          <a:xfrm>
            <a:off x="841248" y="3099816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NanumGothicExtraBold" pitchFamily="34" charset="0"/>
                <a:ea typeface="NanumGothicExtraBold" pitchFamily="34" charset="-122"/>
                <a:cs typeface="NanumGothicExtraBold" pitchFamily="34" charset="-120"/>
              </a:rPr>
              <a:t>진행실적 입력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841248" y="3483864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7CCD6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변경요청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2606040" y="1783080"/>
            <a:ext cx="6702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E6E73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목표를 선택하면 아래에 실적 입력란이 나타납니다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9491472" y="1755648"/>
            <a:ext cx="1828800" cy="292608"/>
          </a:xfrm>
          <a:prstGeom prst="roundRect">
            <a:avLst>
              <a:gd name="adj" fmla="val 15625"/>
            </a:avLst>
          </a:prstGeom>
          <a:solidFill>
            <a:srgbClr val="F5F5F7"/>
          </a:solidFill>
          <a:ln w="12700">
            <a:solidFill>
              <a:srgbClr val="E5E5E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628632" y="1755648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1A1A6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검색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2606040" y="2240280"/>
            <a:ext cx="8714232" cy="105156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E5E5E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606040" y="2240280"/>
            <a:ext cx="8714232" cy="0"/>
          </a:xfrm>
          <a:prstGeom prst="line">
            <a:avLst/>
          </a:prstGeom>
          <a:noFill/>
          <a:ln w="6350">
            <a:solidFill>
              <a:srgbClr val="E5E5E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743200" y="2258568"/>
            <a:ext cx="8439912" cy="310896"/>
          </a:xfrm>
          <a:prstGeom prst="rect">
            <a:avLst/>
          </a:prstGeom>
          <a:solidFill>
            <a:srgbClr val="EEF0F4"/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D1D1F"/>
                </a:solidFill>
                <a:latin typeface="NanumGothicExtraBold" pitchFamily="34" charset="0"/>
                <a:ea typeface="NanumGothicExtraBold" pitchFamily="34" charset="-122"/>
                <a:cs typeface="NanumGothicExtraBold" pitchFamily="34" charset="-120"/>
              </a:rPr>
              <a:t>회원성장확대 · 정기배송 회원수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2606040" y="2587752"/>
            <a:ext cx="8714232" cy="0"/>
          </a:xfrm>
          <a:prstGeom prst="line">
            <a:avLst/>
          </a:prstGeom>
          <a:noFill/>
          <a:ln w="6350">
            <a:solidFill>
              <a:srgbClr val="E5E5E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743200" y="2606040"/>
            <a:ext cx="84399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E6E73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고객 유통시장 확장 · 포프리/에터미 OEM 매출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2606040" y="2935224"/>
            <a:ext cx="8714232" cy="0"/>
          </a:xfrm>
          <a:prstGeom prst="line">
            <a:avLst/>
          </a:prstGeom>
          <a:noFill/>
          <a:ln w="6350">
            <a:solidFill>
              <a:srgbClr val="E5E5E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743200" y="2953512"/>
            <a:ext cx="84399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E6E73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고객 유통시장 확장 · 고객음용수 매출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2606040" y="3429000"/>
            <a:ext cx="8714232" cy="105156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E5E5E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788920" y="3520440"/>
            <a:ext cx="8348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D1D1F"/>
                </a:solidFill>
                <a:latin typeface="NanumGothicExtraBold" pitchFamily="34" charset="0"/>
                <a:ea typeface="NanumGothicExtraBold" pitchFamily="34" charset="-122"/>
                <a:cs typeface="NanumGothicExtraBold" pitchFamily="34" charset="-120"/>
              </a:rPr>
              <a:t>회원성장확대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2788920" y="3886200"/>
            <a:ext cx="83484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E6E73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S · Specific: 정기배송 회원 신규 유치 확대   |   M · Measurable: 전년 대비 6.3% 증가   |   T · Time-bound: 연중 상시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2651760" y="4663440"/>
            <a:ext cx="365760" cy="365760"/>
          </a:xfrm>
          <a:prstGeom prst="ellipse">
            <a:avLst/>
          </a:prstGeom>
          <a:solidFill>
            <a:srgbClr val="4C6FA5"/>
          </a:solidFill>
          <a:ln/>
        </p:spPr>
      </p:sp>
      <p:sp>
        <p:nvSpPr>
          <p:cNvPr id="27" name="Text 25"/>
          <p:cNvSpPr/>
          <p:nvPr/>
        </p:nvSpPr>
        <p:spPr>
          <a:xfrm>
            <a:off x="2651760" y="46634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anumGothicExtraBold" pitchFamily="34" charset="0"/>
                <a:ea typeface="NanumGothicExtraBold" pitchFamily="34" charset="-122"/>
                <a:cs typeface="NanumGothicExtraBold" pitchFamily="34" charset="-120"/>
              </a:rPr>
              <a:t>1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3154680" y="4617720"/>
            <a:ext cx="80741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D1D1F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본인 회사의 목표만 표시되며, 검색창으로 빠르게 찾을 수 있습니다.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2651760" y="5230368"/>
            <a:ext cx="365760" cy="365760"/>
          </a:xfrm>
          <a:prstGeom prst="ellipse">
            <a:avLst/>
          </a:prstGeom>
          <a:solidFill>
            <a:srgbClr val="2F9E5B"/>
          </a:solidFill>
          <a:ln/>
        </p:spPr>
      </p:sp>
      <p:sp>
        <p:nvSpPr>
          <p:cNvPr id="30" name="Text 28"/>
          <p:cNvSpPr/>
          <p:nvPr/>
        </p:nvSpPr>
        <p:spPr>
          <a:xfrm>
            <a:off x="2651760" y="52303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anumGothicExtraBold" pitchFamily="34" charset="0"/>
                <a:ea typeface="NanumGothicExtraBold" pitchFamily="34" charset="-122"/>
                <a:cs typeface="NanumGothicExtraBold" pitchFamily="34" charset="-120"/>
              </a:rPr>
              <a:t>2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3154680" y="5184648"/>
            <a:ext cx="80741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D1D1F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목표를 클릭하면 SMART 요약 카드가 열려 어떤 목표인지 다시 확인한 뒤 실적을 입력할 수 있습니다.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1A1A6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대교홀딩스 SMART 사업계획 관리 시스템 · 계열사 담당자 가이드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1A1A6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5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D1D1F"/>
                </a:solidFill>
                <a:latin typeface="NanumGothicExtraBold" pitchFamily="34" charset="0"/>
                <a:ea typeface="NanumGothicExtraBold" pitchFamily="34" charset="-122"/>
                <a:cs typeface="NanumGothicExtraBold" pitchFamily="34" charset="-120"/>
              </a:rPr>
              <a:t>9. 진행실적 입력 ② — 지표별 실적 입력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841248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E6E73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선택한 목표의 지표마다 기간별로 실적을 입력합니다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640080" y="1554480"/>
            <a:ext cx="10908792" cy="3931920"/>
          </a:xfrm>
          <a:prstGeom prst="roundRect">
            <a:avLst>
              <a:gd name="adj" fmla="val 1395"/>
            </a:avLst>
          </a:prstGeom>
          <a:solidFill>
            <a:srgbClr val="FFFFFF"/>
          </a:solidFill>
          <a:ln w="12700">
            <a:solidFill>
              <a:srgbClr val="E5E5EA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554480"/>
            <a:ext cx="1737360" cy="3931920"/>
          </a:xfrm>
          <a:prstGeom prst="rect">
            <a:avLst/>
          </a:prstGeom>
          <a:solidFill>
            <a:srgbClr val="3A4356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682496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anumGothicExtraBold" pitchFamily="34" charset="0"/>
                <a:ea typeface="NanumGothicExtraBold" pitchFamily="34" charset="-122"/>
                <a:cs typeface="NanumGothicExtraBold" pitchFamily="34" charset="-120"/>
              </a:rPr>
              <a:t>SMART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77240" y="1901952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7CCD6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대교홀딩스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41248" y="233172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7CCD6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대시보드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841248" y="2715768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7CCD6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사업계획 목표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749808" y="3063240"/>
            <a:ext cx="1517904" cy="310896"/>
          </a:xfrm>
          <a:prstGeom prst="roundRect">
            <a:avLst>
              <a:gd name="adj" fmla="val 14706"/>
            </a:avLst>
          </a:prstGeom>
          <a:solidFill>
            <a:srgbClr val="4A5570"/>
          </a:solidFill>
          <a:ln/>
        </p:spPr>
      </p:sp>
      <p:sp>
        <p:nvSpPr>
          <p:cNvPr id="11" name="Text 9"/>
          <p:cNvSpPr/>
          <p:nvPr/>
        </p:nvSpPr>
        <p:spPr>
          <a:xfrm>
            <a:off x="841248" y="3099816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NanumGothicExtraBold" pitchFamily="34" charset="0"/>
                <a:ea typeface="NanumGothicExtraBold" pitchFamily="34" charset="-122"/>
                <a:cs typeface="NanumGothicExtraBold" pitchFamily="34" charset="-120"/>
              </a:rPr>
              <a:t>진행실적 입력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841248" y="3483864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7CCD6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변경요청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2606040" y="1783080"/>
            <a:ext cx="8714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D1D1F"/>
                </a:solidFill>
                <a:latin typeface="NanumGothicExtraBold" pitchFamily="34" charset="0"/>
                <a:ea typeface="NanumGothicExtraBold" pitchFamily="34" charset="-122"/>
                <a:cs typeface="NanumGothicExtraBold" pitchFamily="34" charset="-120"/>
              </a:rPr>
              <a:t>정기배송 회원수  (증가형 · 월별)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10314432" y="1737360"/>
            <a:ext cx="1005840" cy="320040"/>
          </a:xfrm>
          <a:prstGeom prst="roundRect">
            <a:avLst>
              <a:gd name="adj" fmla="val 17143"/>
            </a:avLst>
          </a:prstGeom>
          <a:solidFill>
            <a:srgbClr val="3A4356"/>
          </a:solidFill>
          <a:ln/>
        </p:spPr>
      </p:sp>
      <p:sp>
        <p:nvSpPr>
          <p:cNvPr id="15" name="Text 13"/>
          <p:cNvSpPr/>
          <p:nvPr/>
        </p:nvSpPr>
        <p:spPr>
          <a:xfrm>
            <a:off x="10314432" y="1737360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NanumGothicExtraBold" pitchFamily="34" charset="0"/>
                <a:ea typeface="NanumGothicExtraBold" pitchFamily="34" charset="-122"/>
                <a:cs typeface="NanumGothicExtraBold" pitchFamily="34" charset="-120"/>
              </a:rPr>
              <a:t>일괄저장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2606040" y="219456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A1A1A6"/>
                </a:solidFill>
                <a:latin typeface="NanumGothicExtraBold" pitchFamily="34" charset="0"/>
                <a:ea typeface="NanumGothicExtraBold" pitchFamily="34" charset="-122"/>
                <a:cs typeface="NanumGothicExtraBold" pitchFamily="34" charset="-120"/>
              </a:rPr>
              <a:t>기간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3520440" y="219456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A1A1A6"/>
                </a:solidFill>
                <a:latin typeface="NanumGothicExtraBold" pitchFamily="34" charset="0"/>
                <a:ea typeface="NanumGothicExtraBold" pitchFamily="34" charset="-122"/>
                <a:cs typeface="NanumGothicExtraBold" pitchFamily="34" charset="-120"/>
              </a:rPr>
              <a:t>목표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4434840" y="219456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A1A1A6"/>
                </a:solidFill>
                <a:latin typeface="NanumGothicExtraBold" pitchFamily="34" charset="0"/>
                <a:ea typeface="NanumGothicExtraBold" pitchFamily="34" charset="-122"/>
                <a:cs typeface="NanumGothicExtraBold" pitchFamily="34" charset="-120"/>
              </a:rPr>
              <a:t>실적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5349240" y="2194560"/>
            <a:ext cx="33192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A1A1A6"/>
                </a:solidFill>
                <a:latin typeface="NanumGothicExtraBold" pitchFamily="34" charset="0"/>
                <a:ea typeface="NanumGothicExtraBold" pitchFamily="34" charset="-122"/>
                <a:cs typeface="NanumGothicExtraBold" pitchFamily="34" charset="-120"/>
              </a:rPr>
              <a:t>메모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8668512" y="2194560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A1A1A6"/>
                </a:solidFill>
                <a:latin typeface="NanumGothicExtraBold" pitchFamily="34" charset="0"/>
                <a:ea typeface="NanumGothicExtraBold" pitchFamily="34" charset="-122"/>
                <a:cs typeface="NanumGothicExtraBold" pitchFamily="34" charset="-120"/>
              </a:rPr>
              <a:t>증빙파일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9948672" y="219456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A1A1A6"/>
                </a:solidFill>
                <a:latin typeface="NanumGothicExtraBold" pitchFamily="34" charset="0"/>
                <a:ea typeface="NanumGothicExtraBold" pitchFamily="34" charset="-122"/>
                <a:cs typeface="NanumGothicExtraBold" pitchFamily="34" charset="-120"/>
              </a:rPr>
              <a:t>입력자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2606040" y="2487168"/>
            <a:ext cx="8714232" cy="0"/>
          </a:xfrm>
          <a:prstGeom prst="line">
            <a:avLst/>
          </a:prstGeom>
          <a:noFill/>
          <a:ln w="6350">
            <a:solidFill>
              <a:srgbClr val="E5E5E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606040" y="2542032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D1D1F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2026-05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520440" y="2542032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D1D1F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690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434840" y="2542032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D1D1F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702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349240" y="2542032"/>
            <a:ext cx="33192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D1D1F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정상 진행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8668512" y="2542032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D1D1F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5월실적.pdf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9948672" y="2542032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D1D1F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김담당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2606040" y="2907792"/>
            <a:ext cx="8714232" cy="0"/>
          </a:xfrm>
          <a:prstGeom prst="line">
            <a:avLst/>
          </a:prstGeom>
          <a:noFill/>
          <a:ln w="6350">
            <a:solidFill>
              <a:srgbClr val="E5E5E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606040" y="2962656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D1D1F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2026-06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3520440" y="2962656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D1D1F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705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434840" y="2962656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D1D1F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-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5349240" y="2962656"/>
            <a:ext cx="33192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1A1A6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-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8668512" y="2962656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1A1A6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-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9948672" y="2962656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1A1A6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-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548640" y="5623560"/>
            <a:ext cx="11091672" cy="960120"/>
          </a:xfrm>
          <a:prstGeom prst="roundRect">
            <a:avLst>
              <a:gd name="adj" fmla="val 4762"/>
            </a:avLst>
          </a:prstGeom>
          <a:solidFill>
            <a:srgbClr val="EEF0F4"/>
          </a:solidFill>
          <a:ln/>
        </p:spPr>
      </p:sp>
      <p:sp>
        <p:nvSpPr>
          <p:cNvPr id="37" name="Text 35"/>
          <p:cNvSpPr/>
          <p:nvPr/>
        </p:nvSpPr>
        <p:spPr>
          <a:xfrm>
            <a:off x="777240" y="5696712"/>
            <a:ext cx="106344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1D1D1F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• ‘목표’ 열에서 이번 기간에 적용되는 목표값을 바로 확인할 수 있습니다.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1D1D1F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• 행마다 [저장]으로 개별 저장하거나, 카드 상단 [일괄저장]으로 여러 달을 한 번에 저장할 수 있습니다.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1D1D1F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• 메모와 증빙파일(한글 파일명도 가능)을 함께 첨부할 수 있습니다.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1D1D1F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• 마일스톤 지표는 완료/미완료 선택, 진척도(%) 지표는 0~100 숫자를 입력합니다.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1A1A6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대교홀딩스 SMART 사업계획 관리 시스템 · 계열사 담당자 가이드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1A1A6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19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5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D1D1F"/>
                </a:solidFill>
                <a:latin typeface="NanumGothicExtraBold" pitchFamily="34" charset="0"/>
                <a:ea typeface="NanumGothicExtraBold" pitchFamily="34" charset="-122"/>
                <a:cs typeface="NanumGothicExtraBold" pitchFamily="34" charset="-120"/>
              </a:rPr>
              <a:t>10. 실적 입력 마감일과 이메일 알림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841248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E6E73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마감을 놓치면 자동으로 알림을 보내드립니다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5362956" cy="1828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5E5EA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1938528"/>
            <a:ext cx="481431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D1D1F"/>
                </a:solidFill>
                <a:latin typeface="NanumGothicExtraBold" pitchFamily="34" charset="0"/>
                <a:ea typeface="NanumGothicExtraBold" pitchFamily="34" charset="-122"/>
                <a:cs typeface="NanumGothicExtraBold" pitchFamily="34" charset="-120"/>
              </a:rPr>
              <a:t>월별 지표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22960" y="2304288"/>
            <a:ext cx="48143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E6E73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예: 2026년 5월 실적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822960" y="2697480"/>
            <a:ext cx="4814316" cy="548640"/>
          </a:xfrm>
          <a:prstGeom prst="roundRect">
            <a:avLst>
              <a:gd name="adj" fmla="val 10000"/>
            </a:avLst>
          </a:prstGeom>
          <a:solidFill>
            <a:srgbClr val="EAF0F8"/>
          </a:solidFill>
          <a:ln/>
        </p:spPr>
      </p:sp>
      <p:sp>
        <p:nvSpPr>
          <p:cNvPr id="8" name="Text 6"/>
          <p:cNvSpPr/>
          <p:nvPr/>
        </p:nvSpPr>
        <p:spPr>
          <a:xfrm>
            <a:off x="960120" y="2697480"/>
            <a:ext cx="45399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C6FA5"/>
                </a:solidFill>
                <a:latin typeface="NanumGothicExtraBold" pitchFamily="34" charset="0"/>
                <a:ea typeface="NanumGothicExtraBold" pitchFamily="34" charset="-122"/>
                <a:cs typeface="NanumGothicExtraBold" pitchFamily="34" charset="-120"/>
              </a:rPr>
              <a:t>2026년 6월 30일까지 입력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22960" y="3310128"/>
            <a:ext cx="48143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A1A1A6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(실적 발생 기간이 끝난 다음 달의 말일까지)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6277356" y="1737360"/>
            <a:ext cx="5362956" cy="1828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5E5EA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551676" y="1938528"/>
            <a:ext cx="481431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D1D1F"/>
                </a:solidFill>
                <a:latin typeface="NanumGothicExtraBold" pitchFamily="34" charset="0"/>
                <a:ea typeface="NanumGothicExtraBold" pitchFamily="34" charset="-122"/>
                <a:cs typeface="NanumGothicExtraBold" pitchFamily="34" charset="-120"/>
              </a:rPr>
              <a:t>분기별 지표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551676" y="2304288"/>
            <a:ext cx="48143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E6E73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예: 2026년 1분기(1~3월) 실적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551676" y="2697480"/>
            <a:ext cx="4814316" cy="548640"/>
          </a:xfrm>
          <a:prstGeom prst="roundRect">
            <a:avLst>
              <a:gd name="adj" fmla="val 10000"/>
            </a:avLst>
          </a:prstGeom>
          <a:solidFill>
            <a:srgbClr val="E7F5EC"/>
          </a:solidFill>
          <a:ln/>
        </p:spPr>
      </p:sp>
      <p:sp>
        <p:nvSpPr>
          <p:cNvPr id="14" name="Text 12"/>
          <p:cNvSpPr/>
          <p:nvPr/>
        </p:nvSpPr>
        <p:spPr>
          <a:xfrm>
            <a:off x="6688836" y="2697480"/>
            <a:ext cx="45399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F9E5B"/>
                </a:solidFill>
                <a:latin typeface="NanumGothicExtraBold" pitchFamily="34" charset="0"/>
                <a:ea typeface="NanumGothicExtraBold" pitchFamily="34" charset="-122"/>
                <a:cs typeface="NanumGothicExtraBold" pitchFamily="34" charset="-120"/>
              </a:rPr>
              <a:t>2026년 4월 30일까지 입력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551676" y="3310128"/>
            <a:ext cx="48143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A1A1A6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(실적 발생 기간이 끝난 다음 달의 말일까지)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548640" y="3840480"/>
            <a:ext cx="11091672" cy="141732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12700">
            <a:solidFill>
              <a:srgbClr val="E5E5EA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822960" y="4023360"/>
            <a:ext cx="10543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D1D1F"/>
                </a:solidFill>
                <a:latin typeface="NanumGothicExtraBold" pitchFamily="34" charset="0"/>
                <a:ea typeface="NanumGothicExtraBold" pitchFamily="34" charset="-122"/>
                <a:cs typeface="NanumGothicExtraBold" pitchFamily="34" charset="-120"/>
              </a:rPr>
              <a:t>마감일이 지나도 실적이 입력되지 않으면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822960" y="4343400"/>
            <a:ext cx="1054303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C94A3C"/>
                </a:solidFill>
                <a:latin typeface="NanumGothicExtraBold" pitchFamily="34" charset="0"/>
                <a:ea typeface="NanumGothicExtraBold" pitchFamily="34" charset="-122"/>
                <a:cs typeface="NanumGothicExtraBold" pitchFamily="34" charset="-120"/>
              </a:rPr>
              <a:t>담당자 이메일로 자동 알림</a:t>
            </a:r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D1D1F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이 발송되고, 홀딩스 대시보드의 </a:t>
            </a:r>
            <a:pPr indent="0" marL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C94A3C"/>
                </a:solidFill>
                <a:latin typeface="NanumGothicExtraBold" pitchFamily="34" charset="0"/>
                <a:ea typeface="NanumGothicExtraBold" pitchFamily="34" charset="-122"/>
                <a:cs typeface="NanumGothicExtraBold" pitchFamily="34" charset="-120"/>
              </a:rPr>
              <a:t>‘실적 미입력 목표(마감 경과)’</a:t>
            </a:r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D1D1F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 카드에도 표시되어 경영진이 함께 확인할 수 있습니다.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1A1A6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대교홀딩스 SMART 사업계획 관리 시스템 · 계열사 담당자 가이드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1A1A6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20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5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D1D1F"/>
                </a:solidFill>
                <a:latin typeface="NanumGothicExtraBold" pitchFamily="34" charset="0"/>
                <a:ea typeface="NanumGothicExtraBold" pitchFamily="34" charset="-122"/>
                <a:cs typeface="NanumGothicExtraBold" pitchFamily="34" charset="-120"/>
              </a:rPr>
              <a:t>11. 변경요청 방법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841248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E6E73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승인완료 · 잠김 상태의 목표는 [변경요청]으로만 수정합니다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640080" y="1554480"/>
            <a:ext cx="6766560" cy="4709160"/>
          </a:xfrm>
          <a:prstGeom prst="roundRect">
            <a:avLst>
              <a:gd name="adj" fmla="val 1165"/>
            </a:avLst>
          </a:prstGeom>
          <a:solidFill>
            <a:srgbClr val="FFFFFF"/>
          </a:solidFill>
          <a:ln w="12700">
            <a:solidFill>
              <a:srgbClr val="E5E5EA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554480"/>
            <a:ext cx="1737360" cy="4709160"/>
          </a:xfrm>
          <a:prstGeom prst="rect">
            <a:avLst/>
          </a:prstGeom>
          <a:solidFill>
            <a:srgbClr val="3A4356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682496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anumGothicExtraBold" pitchFamily="34" charset="0"/>
                <a:ea typeface="NanumGothicExtraBold" pitchFamily="34" charset="-122"/>
                <a:cs typeface="NanumGothicExtraBold" pitchFamily="34" charset="-120"/>
              </a:rPr>
              <a:t>SMART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77240" y="1901952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7CCD6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대교홀딩스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41248" y="233172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7CCD6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대시보드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841248" y="2715768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7CCD6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사업계획 목표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841248" y="3099816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7CCD6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진행실적 입력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749808" y="3447288"/>
            <a:ext cx="1517904" cy="310896"/>
          </a:xfrm>
          <a:prstGeom prst="roundRect">
            <a:avLst>
              <a:gd name="adj" fmla="val 14706"/>
            </a:avLst>
          </a:prstGeom>
          <a:solidFill>
            <a:srgbClr val="4A5570"/>
          </a:solidFill>
          <a:ln/>
        </p:spPr>
      </p:sp>
      <p:sp>
        <p:nvSpPr>
          <p:cNvPr id="12" name="Text 10"/>
          <p:cNvSpPr/>
          <p:nvPr/>
        </p:nvSpPr>
        <p:spPr>
          <a:xfrm>
            <a:off x="841248" y="3483864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NanumGothicExtraBold" pitchFamily="34" charset="0"/>
                <a:ea typeface="NanumGothicExtraBold" pitchFamily="34" charset="-122"/>
                <a:cs typeface="NanumGothicExtraBold" pitchFamily="34" charset="-120"/>
              </a:rPr>
              <a:t>변경요청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2606040" y="178308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D1D1F"/>
                </a:solidFill>
                <a:latin typeface="NanumGothicExtraBold" pitchFamily="34" charset="0"/>
                <a:ea typeface="NanumGothicExtraBold" pitchFamily="34" charset="-122"/>
                <a:cs typeface="NanumGothicExtraBold" pitchFamily="34" charset="-120"/>
              </a:rPr>
              <a:t>새 변경요청 작성 · 회원성장확대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2606040" y="2039112"/>
            <a:ext cx="4572000" cy="292608"/>
          </a:xfrm>
          <a:prstGeom prst="roundRect">
            <a:avLst>
              <a:gd name="adj" fmla="val 15625"/>
            </a:avLst>
          </a:prstGeom>
          <a:solidFill>
            <a:srgbClr val="F5F5F7"/>
          </a:solidFill>
          <a:ln w="12700">
            <a:solidFill>
              <a:srgbClr val="E5E5E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715768" y="2039112"/>
            <a:ext cx="43525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1A1A6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변경 사유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2606040" y="2441448"/>
            <a:ext cx="128016" cy="128016"/>
          </a:xfrm>
          <a:prstGeom prst="rect">
            <a:avLst/>
          </a:prstGeom>
          <a:solidFill>
            <a:srgbClr val="FFFFFF"/>
          </a:solidFill>
          <a:ln w="16510">
            <a:solidFill>
              <a:srgbClr val="3A435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807208" y="2404872"/>
            <a:ext cx="19476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D1D1F"/>
                </a:solidFill>
                <a:latin typeface="NanumGothicExtraBold" pitchFamily="34" charset="0"/>
                <a:ea typeface="NanumGothicExtraBold" pitchFamily="34" charset="-122"/>
                <a:cs typeface="NanumGothicExtraBold" pitchFamily="34" charset="-120"/>
              </a:rPr>
              <a:t>전략(목표) (현재 값)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2606040" y="2624328"/>
            <a:ext cx="2148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6E73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회원성장확대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2606040" y="2843784"/>
            <a:ext cx="2148840" cy="274320"/>
          </a:xfrm>
          <a:prstGeom prst="roundRect">
            <a:avLst>
              <a:gd name="adj" fmla="val 16667"/>
            </a:avLst>
          </a:prstGeom>
          <a:solidFill>
            <a:srgbClr val="F5F5F7"/>
          </a:solidFill>
          <a:ln w="12700">
            <a:solidFill>
              <a:srgbClr val="E5E5E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697480" y="2843784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1A1A6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변경 후 값 입력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5029200" y="2441448"/>
            <a:ext cx="128016" cy="128016"/>
          </a:xfrm>
          <a:prstGeom prst="rect">
            <a:avLst/>
          </a:prstGeom>
          <a:solidFill>
            <a:srgbClr val="FFFFFF"/>
          </a:solidFill>
          <a:ln w="16510">
            <a:solidFill>
              <a:srgbClr val="3A435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230368" y="2404872"/>
            <a:ext cx="19476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D1D1F"/>
                </a:solidFill>
                <a:latin typeface="NanumGothicExtraBold" pitchFamily="34" charset="0"/>
                <a:ea typeface="NanumGothicExtraBold" pitchFamily="34" charset="-122"/>
                <a:cs typeface="NanumGothicExtraBold" pitchFamily="34" charset="-120"/>
              </a:rPr>
              <a:t>T · Time-bound (현재 값)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5029200" y="2624328"/>
            <a:ext cx="2148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6E73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26년 배송회원수 11,500명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5029200" y="2843784"/>
            <a:ext cx="2148840" cy="274320"/>
          </a:xfrm>
          <a:prstGeom prst="roundRect">
            <a:avLst>
              <a:gd name="adj" fmla="val 16667"/>
            </a:avLst>
          </a:prstGeom>
          <a:solidFill>
            <a:srgbClr val="F5F5F7"/>
          </a:solidFill>
          <a:ln w="12700">
            <a:solidFill>
              <a:srgbClr val="E5E5E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120640" y="2843784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1A1A6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변경 후 값 입력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2606040" y="320040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D1D1F"/>
                </a:solidFill>
                <a:latin typeface="NanumGothicExtraBold" pitchFamily="34" charset="0"/>
                <a:ea typeface="NanumGothicExtraBold" pitchFamily="34" charset="-122"/>
                <a:cs typeface="NanumGothicExtraBold" pitchFamily="34" charset="-120"/>
              </a:rPr>
              <a:t>핵심지표(KPI) 변경 · 정기배송 회원수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2606040" y="3493008"/>
            <a:ext cx="128016" cy="128016"/>
          </a:xfrm>
          <a:prstGeom prst="rect">
            <a:avLst/>
          </a:prstGeom>
          <a:solidFill>
            <a:srgbClr val="FFFFFF"/>
          </a:solidFill>
          <a:ln w="16510">
            <a:solidFill>
              <a:srgbClr val="3A435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807208" y="3456432"/>
            <a:ext cx="19476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D1D1F"/>
                </a:solidFill>
                <a:latin typeface="NanumGothicExtraBold" pitchFamily="34" charset="0"/>
                <a:ea typeface="NanumGothicExtraBold" pitchFamily="34" charset="-122"/>
                <a:cs typeface="NanumGothicExtraBold" pitchFamily="34" charset="-120"/>
              </a:rPr>
              <a:t>목표값 (현재 값)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2606040" y="3675888"/>
            <a:ext cx="2148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6E73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11500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2606040" y="3895344"/>
            <a:ext cx="2148840" cy="274320"/>
          </a:xfrm>
          <a:prstGeom prst="roundRect">
            <a:avLst>
              <a:gd name="adj" fmla="val 16667"/>
            </a:avLst>
          </a:prstGeom>
          <a:solidFill>
            <a:srgbClr val="F5F5F7"/>
          </a:solidFill>
          <a:ln w="12700">
            <a:solidFill>
              <a:srgbClr val="E5E5E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697480" y="3895344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1A1A6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변경 후 값 입력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5029200" y="3493008"/>
            <a:ext cx="128016" cy="128016"/>
          </a:xfrm>
          <a:prstGeom prst="rect">
            <a:avLst/>
          </a:prstGeom>
          <a:solidFill>
            <a:srgbClr val="3A4356"/>
          </a:solidFill>
          <a:ln/>
        </p:spPr>
      </p:sp>
      <p:sp>
        <p:nvSpPr>
          <p:cNvPr id="33" name="Text 31"/>
          <p:cNvSpPr/>
          <p:nvPr/>
        </p:nvSpPr>
        <p:spPr>
          <a:xfrm>
            <a:off x="5029200" y="3474720"/>
            <a:ext cx="12801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✓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5230368" y="3456432"/>
            <a:ext cx="19476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D1D1F"/>
                </a:solidFill>
                <a:latin typeface="NanumGothicExtraBold" pitchFamily="34" charset="0"/>
                <a:ea typeface="NanumGothicExtraBold" pitchFamily="34" charset="-122"/>
                <a:cs typeface="NanumGothicExtraBold" pitchFamily="34" charset="-120"/>
              </a:rPr>
              <a:t>월별/분기별 목표값 변경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5029200" y="3675888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A1A1A6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(변경할 기간만 입력, 나머지는 비워두면 유지)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5715000" y="4325112"/>
            <a:ext cx="1463040" cy="347472"/>
          </a:xfrm>
          <a:prstGeom prst="roundRect">
            <a:avLst>
              <a:gd name="adj" fmla="val 15789"/>
            </a:avLst>
          </a:prstGeom>
          <a:solidFill>
            <a:srgbClr val="3A4356"/>
          </a:solidFill>
          <a:ln/>
        </p:spPr>
      </p:sp>
      <p:sp>
        <p:nvSpPr>
          <p:cNvPr id="37" name="Text 35"/>
          <p:cNvSpPr/>
          <p:nvPr/>
        </p:nvSpPr>
        <p:spPr>
          <a:xfrm>
            <a:off x="5715000" y="4325112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NanumGothicExtraBold" pitchFamily="34" charset="0"/>
                <a:ea typeface="NanumGothicExtraBold" pitchFamily="34" charset="-122"/>
                <a:cs typeface="NanumGothicExtraBold" pitchFamily="34" charset="-120"/>
              </a:rPr>
              <a:t>변경요청 제출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2606040" y="4818888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D1D1F"/>
                </a:solidFill>
                <a:latin typeface="NanumGothicExtraBold" pitchFamily="34" charset="0"/>
                <a:ea typeface="NanumGothicExtraBold" pitchFamily="34" charset="-122"/>
                <a:cs typeface="NanumGothicExtraBold" pitchFamily="34" charset="-120"/>
              </a:rPr>
              <a:t>변경요청 목록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2606040" y="5074920"/>
            <a:ext cx="4572000" cy="914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5E5EA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2743200" y="5148072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D1D1F"/>
                </a:solidFill>
                <a:latin typeface="NanumGothicExtraBold" pitchFamily="34" charset="0"/>
                <a:ea typeface="NanumGothicExtraBold" pitchFamily="34" charset="-122"/>
                <a:cs typeface="NanumGothicExtraBold" pitchFamily="34" charset="-120"/>
              </a:rPr>
              <a:t>강원심층수 · 고객 유통시장 확장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6126480" y="5148072"/>
            <a:ext cx="914400" cy="274320"/>
          </a:xfrm>
          <a:prstGeom prst="roundRect">
            <a:avLst>
              <a:gd name="adj" fmla="val 50000"/>
            </a:avLst>
          </a:prstGeom>
          <a:solidFill>
            <a:srgbClr val="E7F5EC"/>
          </a:solidFill>
          <a:ln/>
        </p:spPr>
      </p:sp>
      <p:sp>
        <p:nvSpPr>
          <p:cNvPr id="42" name="Text 40"/>
          <p:cNvSpPr/>
          <p:nvPr/>
        </p:nvSpPr>
        <p:spPr>
          <a:xfrm>
            <a:off x="6126480" y="514807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F9E5B"/>
                </a:solidFill>
                <a:latin typeface="NanumGothicExtraBold" pitchFamily="34" charset="0"/>
                <a:ea typeface="NanumGothicExtraBold" pitchFamily="34" charset="-122"/>
                <a:cs typeface="NanumGothicExtraBold" pitchFamily="34" charset="-120"/>
              </a:rPr>
              <a:t>승인완료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2743200" y="5385816"/>
            <a:ext cx="2148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1A1A6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T · Time-bound  변경 전 → 변경 후</a:t>
            </a:r>
            <a:endParaRPr lang="en-US" sz="800" dirty="0"/>
          </a:p>
        </p:txBody>
      </p:sp>
      <p:sp>
        <p:nvSpPr>
          <p:cNvPr id="44" name="Shape 42"/>
          <p:cNvSpPr/>
          <p:nvPr/>
        </p:nvSpPr>
        <p:spPr>
          <a:xfrm>
            <a:off x="2743200" y="5568696"/>
            <a:ext cx="2057400" cy="310896"/>
          </a:xfrm>
          <a:prstGeom prst="rect">
            <a:avLst/>
          </a:prstGeom>
          <a:solidFill>
            <a:srgbClr val="FBEAE7"/>
          </a:solidFill>
          <a:ln/>
        </p:spPr>
      </p:sp>
      <p:sp>
        <p:nvSpPr>
          <p:cNvPr id="45" name="Text 43"/>
          <p:cNvSpPr/>
          <p:nvPr/>
        </p:nvSpPr>
        <p:spPr>
          <a:xfrm>
            <a:off x="2807208" y="5568696"/>
            <a:ext cx="19293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D1D1F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26년 12월까지 매출 달성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4983480" y="5568696"/>
            <a:ext cx="2057400" cy="310896"/>
          </a:xfrm>
          <a:prstGeom prst="rect">
            <a:avLst/>
          </a:prstGeom>
          <a:solidFill>
            <a:srgbClr val="E7F5EC"/>
          </a:solidFill>
          <a:ln/>
        </p:spPr>
      </p:sp>
      <p:sp>
        <p:nvSpPr>
          <p:cNvPr id="47" name="Text 45"/>
          <p:cNvSpPr/>
          <p:nvPr/>
        </p:nvSpPr>
        <p:spPr>
          <a:xfrm>
            <a:off x="5047488" y="5568696"/>
            <a:ext cx="19293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D1D1F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27년 3월까지 매출 달성</a:t>
            </a:r>
            <a:endParaRPr lang="en-US" sz="800" dirty="0"/>
          </a:p>
        </p:txBody>
      </p:sp>
      <p:sp>
        <p:nvSpPr>
          <p:cNvPr id="48" name="Shape 46"/>
          <p:cNvSpPr/>
          <p:nvPr/>
        </p:nvSpPr>
        <p:spPr>
          <a:xfrm>
            <a:off x="7772400" y="1737360"/>
            <a:ext cx="365760" cy="365760"/>
          </a:xfrm>
          <a:prstGeom prst="ellipse">
            <a:avLst/>
          </a:prstGeom>
          <a:solidFill>
            <a:srgbClr val="3A4356"/>
          </a:solidFill>
          <a:ln/>
        </p:spPr>
      </p:sp>
      <p:sp>
        <p:nvSpPr>
          <p:cNvPr id="49" name="Text 47"/>
          <p:cNvSpPr/>
          <p:nvPr/>
        </p:nvSpPr>
        <p:spPr>
          <a:xfrm>
            <a:off x="7772400" y="17373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anumGothicExtraBold" pitchFamily="34" charset="0"/>
                <a:ea typeface="NanumGothicExtraBold" pitchFamily="34" charset="-122"/>
                <a:cs typeface="NanumGothicExtraBold" pitchFamily="34" charset="-120"/>
              </a:rPr>
              <a:t>1</a:t>
            </a:r>
            <a:endParaRPr lang="en-US" sz="1200" dirty="0"/>
          </a:p>
        </p:txBody>
      </p:sp>
      <p:sp>
        <p:nvSpPr>
          <p:cNvPr id="50" name="Text 48"/>
          <p:cNvSpPr/>
          <p:nvPr/>
        </p:nvSpPr>
        <p:spPr>
          <a:xfrm>
            <a:off x="8247888" y="1664208"/>
            <a:ext cx="35021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D1D1F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SMART 5개 항목 중 바꿀 항목만 체크해서 변경 요청할 수 있습니다.</a:t>
            </a:r>
            <a:endParaRPr lang="en-US" sz="1050" dirty="0"/>
          </a:p>
        </p:txBody>
      </p:sp>
      <p:sp>
        <p:nvSpPr>
          <p:cNvPr id="51" name="Shape 49"/>
          <p:cNvSpPr/>
          <p:nvPr/>
        </p:nvSpPr>
        <p:spPr>
          <a:xfrm>
            <a:off x="7772400" y="2834640"/>
            <a:ext cx="365760" cy="365760"/>
          </a:xfrm>
          <a:prstGeom prst="ellipse">
            <a:avLst/>
          </a:prstGeom>
          <a:solidFill>
            <a:srgbClr val="4C6FA5"/>
          </a:solidFill>
          <a:ln/>
        </p:spPr>
      </p:sp>
      <p:sp>
        <p:nvSpPr>
          <p:cNvPr id="52" name="Text 50"/>
          <p:cNvSpPr/>
          <p:nvPr/>
        </p:nvSpPr>
        <p:spPr>
          <a:xfrm>
            <a:off x="7772400" y="28346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anumGothicExtraBold" pitchFamily="34" charset="0"/>
                <a:ea typeface="NanumGothicExtraBold" pitchFamily="34" charset="-122"/>
                <a:cs typeface="NanumGothicExtraBold" pitchFamily="34" charset="-120"/>
              </a:rPr>
              <a:t>2</a:t>
            </a:r>
            <a:endParaRPr lang="en-US" sz="1200" dirty="0"/>
          </a:p>
        </p:txBody>
      </p:sp>
      <p:sp>
        <p:nvSpPr>
          <p:cNvPr id="53" name="Text 51"/>
          <p:cNvSpPr/>
          <p:nvPr/>
        </p:nvSpPr>
        <p:spPr>
          <a:xfrm>
            <a:off x="8247888" y="2761488"/>
            <a:ext cx="35021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D1D1F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핵심지표의 지표명 · 유형 · 단위 · 기준값 · 목표값뿐 아니라, 월별 · 분기별 목표값도 기간 단위로 골라 변경 요청할 수 있습니다.</a:t>
            </a:r>
            <a:endParaRPr lang="en-US" sz="1050" dirty="0"/>
          </a:p>
        </p:txBody>
      </p:sp>
      <p:sp>
        <p:nvSpPr>
          <p:cNvPr id="54" name="Shape 52"/>
          <p:cNvSpPr/>
          <p:nvPr/>
        </p:nvSpPr>
        <p:spPr>
          <a:xfrm>
            <a:off x="7772400" y="3931920"/>
            <a:ext cx="365760" cy="365760"/>
          </a:xfrm>
          <a:prstGeom prst="ellipse">
            <a:avLst/>
          </a:prstGeom>
          <a:solidFill>
            <a:srgbClr val="2F9E5B"/>
          </a:solidFill>
          <a:ln/>
        </p:spPr>
      </p:sp>
      <p:sp>
        <p:nvSpPr>
          <p:cNvPr id="55" name="Text 53"/>
          <p:cNvSpPr/>
          <p:nvPr/>
        </p:nvSpPr>
        <p:spPr>
          <a:xfrm>
            <a:off x="7772400" y="39319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anumGothicExtraBold" pitchFamily="34" charset="0"/>
                <a:ea typeface="NanumGothicExtraBold" pitchFamily="34" charset="-122"/>
                <a:cs typeface="NanumGothicExtraBold" pitchFamily="34" charset="-120"/>
              </a:rPr>
              <a:t>3</a:t>
            </a:r>
            <a:endParaRPr lang="en-US" sz="1200" dirty="0"/>
          </a:p>
        </p:txBody>
      </p:sp>
      <p:sp>
        <p:nvSpPr>
          <p:cNvPr id="56" name="Text 54"/>
          <p:cNvSpPr/>
          <p:nvPr/>
        </p:nvSpPr>
        <p:spPr>
          <a:xfrm>
            <a:off x="8247888" y="3858768"/>
            <a:ext cx="35021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D1D1F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홀딩스 담당자/관리자가 승인해야 실제 목표에 반영됩니다.</a:t>
            </a:r>
            <a:endParaRPr lang="en-US" sz="1050" dirty="0"/>
          </a:p>
        </p:txBody>
      </p:sp>
      <p:sp>
        <p:nvSpPr>
          <p:cNvPr id="57" name="Shape 55"/>
          <p:cNvSpPr/>
          <p:nvPr/>
        </p:nvSpPr>
        <p:spPr>
          <a:xfrm>
            <a:off x="7772400" y="5029200"/>
            <a:ext cx="365760" cy="365760"/>
          </a:xfrm>
          <a:prstGeom prst="ellipse">
            <a:avLst/>
          </a:prstGeom>
          <a:solidFill>
            <a:srgbClr val="C98A1F"/>
          </a:solidFill>
          <a:ln/>
        </p:spPr>
      </p:sp>
      <p:sp>
        <p:nvSpPr>
          <p:cNvPr id="58" name="Text 56"/>
          <p:cNvSpPr/>
          <p:nvPr/>
        </p:nvSpPr>
        <p:spPr>
          <a:xfrm>
            <a:off x="7772400" y="50292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anumGothicExtraBold" pitchFamily="34" charset="0"/>
                <a:ea typeface="NanumGothicExtraBold" pitchFamily="34" charset="-122"/>
                <a:cs typeface="NanumGothicExtraBold" pitchFamily="34" charset="-120"/>
              </a:rPr>
              <a:t>4</a:t>
            </a:r>
            <a:endParaRPr lang="en-US" sz="1200" dirty="0"/>
          </a:p>
        </p:txBody>
      </p:sp>
      <p:sp>
        <p:nvSpPr>
          <p:cNvPr id="59" name="Text 57"/>
          <p:cNvSpPr/>
          <p:nvPr/>
        </p:nvSpPr>
        <p:spPr>
          <a:xfrm>
            <a:off x="8247888" y="4956048"/>
            <a:ext cx="35021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D1D1F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목록에서 변경 전 · 변경 후 값을 항목별로 바로 비교해 볼 수 있습니다.</a:t>
            </a:r>
            <a:endParaRPr lang="en-US" sz="1050" dirty="0"/>
          </a:p>
        </p:txBody>
      </p:sp>
      <p:sp>
        <p:nvSpPr>
          <p:cNvPr id="60" name="Text 58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1A1A6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대교홀딩스 SMART 사업계획 관리 시스템 · 계열사 담당자 가이드</a:t>
            </a:r>
            <a:endParaRPr lang="en-US" sz="900" dirty="0"/>
          </a:p>
        </p:txBody>
      </p:sp>
      <p:sp>
        <p:nvSpPr>
          <p:cNvPr id="61" name="Text 59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1A1A6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21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5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D1D1F"/>
                </a:solidFill>
                <a:latin typeface="NanumGothicExtraBold" pitchFamily="34" charset="0"/>
                <a:ea typeface="NanumGothicExtraBold" pitchFamily="34" charset="-122"/>
                <a:cs typeface="NanumGothicExtraBold" pitchFamily="34" charset="-120"/>
              </a:rPr>
              <a:t>12. 대시보드 활용법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841248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E6E73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우리 회사의 전체 현황을 한눈에 확인합니다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640080" y="1554480"/>
            <a:ext cx="10908792" cy="4709160"/>
          </a:xfrm>
          <a:prstGeom prst="roundRect">
            <a:avLst>
              <a:gd name="adj" fmla="val 1165"/>
            </a:avLst>
          </a:prstGeom>
          <a:solidFill>
            <a:srgbClr val="FFFFFF"/>
          </a:solidFill>
          <a:ln w="12700">
            <a:solidFill>
              <a:srgbClr val="E5E5EA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554480"/>
            <a:ext cx="1737360" cy="4709160"/>
          </a:xfrm>
          <a:prstGeom prst="rect">
            <a:avLst/>
          </a:prstGeom>
          <a:solidFill>
            <a:srgbClr val="3A4356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682496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anumGothicExtraBold" pitchFamily="34" charset="0"/>
                <a:ea typeface="NanumGothicExtraBold" pitchFamily="34" charset="-122"/>
                <a:cs typeface="NanumGothicExtraBold" pitchFamily="34" charset="-120"/>
              </a:rPr>
              <a:t>SMART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77240" y="1901952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7CCD6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대교홀딩스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749808" y="2295144"/>
            <a:ext cx="1517904" cy="310896"/>
          </a:xfrm>
          <a:prstGeom prst="roundRect">
            <a:avLst>
              <a:gd name="adj" fmla="val 14706"/>
            </a:avLst>
          </a:prstGeom>
          <a:solidFill>
            <a:srgbClr val="4A5570"/>
          </a:solidFill>
          <a:ln/>
        </p:spPr>
      </p:sp>
      <p:sp>
        <p:nvSpPr>
          <p:cNvPr id="9" name="Text 7"/>
          <p:cNvSpPr/>
          <p:nvPr/>
        </p:nvSpPr>
        <p:spPr>
          <a:xfrm>
            <a:off x="841248" y="233172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NanumGothicExtraBold" pitchFamily="34" charset="0"/>
                <a:ea typeface="NanumGothicExtraBold" pitchFamily="34" charset="-122"/>
                <a:cs typeface="NanumGothicExtraBold" pitchFamily="34" charset="-120"/>
              </a:rPr>
              <a:t>대시보드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841248" y="2715768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7CCD6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사업계획 목표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841248" y="3099816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7CCD6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진행실적 입력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841248" y="3483864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7CCD6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변경요청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2606040" y="1783080"/>
            <a:ext cx="2041398" cy="77724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E5E5E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743200" y="1874520"/>
            <a:ext cx="176707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6E73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전체 목표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2743200" y="2103120"/>
            <a:ext cx="176707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D1D1F"/>
                </a:solidFill>
                <a:latin typeface="NanumGothicExtraBold" pitchFamily="34" charset="0"/>
                <a:ea typeface="NanumGothicExtraBold" pitchFamily="34" charset="-122"/>
                <a:cs typeface="NanumGothicExtraBold" pitchFamily="34" charset="-120"/>
              </a:rPr>
              <a:t>9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4830318" y="1783080"/>
            <a:ext cx="2041398" cy="77724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E5E5E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967478" y="1874520"/>
            <a:ext cx="176707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6E73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승인완료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967478" y="2103120"/>
            <a:ext cx="176707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D1D1F"/>
                </a:solidFill>
                <a:latin typeface="NanumGothicExtraBold" pitchFamily="34" charset="0"/>
                <a:ea typeface="NanumGothicExtraBold" pitchFamily="34" charset="-122"/>
                <a:cs typeface="NanumGothicExtraBold" pitchFamily="34" charset="-120"/>
              </a:rPr>
              <a:t>2 / 9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7054596" y="1783080"/>
            <a:ext cx="2041398" cy="77724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E5E5E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191756" y="1874520"/>
            <a:ext cx="176707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6E73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검토대기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7191756" y="2103120"/>
            <a:ext cx="176707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D1D1F"/>
                </a:solidFill>
                <a:latin typeface="NanumGothicExtraBold" pitchFamily="34" charset="0"/>
                <a:ea typeface="NanumGothicExtraBold" pitchFamily="34" charset="-122"/>
                <a:cs typeface="NanumGothicExtraBold" pitchFamily="34" charset="-120"/>
              </a:rPr>
              <a:t>0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9278874" y="1783080"/>
            <a:ext cx="2041398" cy="77724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E5E5E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416034" y="1874520"/>
            <a:ext cx="176707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6E73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평균 달성률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9416034" y="2103120"/>
            <a:ext cx="176707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98A1F"/>
                </a:solidFill>
                <a:latin typeface="NanumGothicExtraBold" pitchFamily="34" charset="0"/>
                <a:ea typeface="NanumGothicExtraBold" pitchFamily="34" charset="-122"/>
                <a:cs typeface="NanumGothicExtraBold" pitchFamily="34" charset="-120"/>
              </a:rPr>
              <a:t>68.8%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2606040" y="2743200"/>
            <a:ext cx="2041398" cy="64008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E5E5E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715768" y="2816352"/>
            <a:ext cx="149275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D1D1F"/>
                </a:solidFill>
                <a:latin typeface="NanumGothicExtraBold" pitchFamily="34" charset="0"/>
                <a:ea typeface="NanumGothicExtraBold" pitchFamily="34" charset="-122"/>
                <a:cs typeface="NanumGothicExtraBold" pitchFamily="34" charset="-120"/>
              </a:rPr>
              <a:t>달성률 60% 미만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4144518" y="2871216"/>
            <a:ext cx="411480" cy="256032"/>
          </a:xfrm>
          <a:prstGeom prst="roundRect">
            <a:avLst>
              <a:gd name="adj" fmla="val 50000"/>
            </a:avLst>
          </a:prstGeom>
          <a:solidFill>
            <a:srgbClr val="FBEAE7"/>
          </a:solidFill>
          <a:ln/>
        </p:spPr>
      </p:sp>
      <p:sp>
        <p:nvSpPr>
          <p:cNvPr id="28" name="Text 26"/>
          <p:cNvSpPr/>
          <p:nvPr/>
        </p:nvSpPr>
        <p:spPr>
          <a:xfrm>
            <a:off x="4144518" y="2871216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C94A3C"/>
                </a:solidFill>
                <a:latin typeface="NanumGothicExtraBold" pitchFamily="34" charset="0"/>
                <a:ea typeface="NanumGothicExtraBold" pitchFamily="34" charset="-122"/>
                <a:cs typeface="NanumGothicExtraBold" pitchFamily="34" charset="-120"/>
              </a:rPr>
              <a:t>1건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4830318" y="2743200"/>
            <a:ext cx="2041398" cy="64008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E5E5E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940046" y="2816352"/>
            <a:ext cx="149275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D1D1F"/>
                </a:solidFill>
                <a:latin typeface="NanumGothicExtraBold" pitchFamily="34" charset="0"/>
                <a:ea typeface="NanumGothicExtraBold" pitchFamily="34" charset="-122"/>
                <a:cs typeface="NanumGothicExtraBold" pitchFamily="34" charset="-120"/>
              </a:rPr>
              <a:t>수정요청 대기중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6368796" y="2871216"/>
            <a:ext cx="411480" cy="256032"/>
          </a:xfrm>
          <a:prstGeom prst="roundRect">
            <a:avLst>
              <a:gd name="adj" fmla="val 50000"/>
            </a:avLst>
          </a:prstGeom>
          <a:solidFill>
            <a:srgbClr val="FAF1DE"/>
          </a:solidFill>
          <a:ln/>
        </p:spPr>
      </p:sp>
      <p:sp>
        <p:nvSpPr>
          <p:cNvPr id="32" name="Text 30"/>
          <p:cNvSpPr/>
          <p:nvPr/>
        </p:nvSpPr>
        <p:spPr>
          <a:xfrm>
            <a:off x="6368796" y="2871216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C98A1F"/>
                </a:solidFill>
                <a:latin typeface="NanumGothicExtraBold" pitchFamily="34" charset="0"/>
                <a:ea typeface="NanumGothicExtraBold" pitchFamily="34" charset="-122"/>
                <a:cs typeface="NanumGothicExtraBold" pitchFamily="34" charset="-120"/>
              </a:rPr>
              <a:t>0건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7054596" y="2743200"/>
            <a:ext cx="2041398" cy="64008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E5E5E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164324" y="2816352"/>
            <a:ext cx="149275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D1D1F"/>
                </a:solidFill>
                <a:latin typeface="NanumGothicExtraBold" pitchFamily="34" charset="0"/>
                <a:ea typeface="NanumGothicExtraBold" pitchFamily="34" charset="-122"/>
                <a:cs typeface="NanumGothicExtraBold" pitchFamily="34" charset="-120"/>
              </a:rPr>
              <a:t>실적 미입력(마감경과)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8593074" y="2871216"/>
            <a:ext cx="411480" cy="256032"/>
          </a:xfrm>
          <a:prstGeom prst="roundRect">
            <a:avLst>
              <a:gd name="adj" fmla="val 50000"/>
            </a:avLst>
          </a:prstGeom>
          <a:solidFill>
            <a:srgbClr val="EAF0F8"/>
          </a:solidFill>
          <a:ln/>
        </p:spPr>
      </p:sp>
      <p:sp>
        <p:nvSpPr>
          <p:cNvPr id="36" name="Text 34"/>
          <p:cNvSpPr/>
          <p:nvPr/>
        </p:nvSpPr>
        <p:spPr>
          <a:xfrm>
            <a:off x="8593074" y="2871216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4C6FA5"/>
                </a:solidFill>
                <a:latin typeface="NanumGothicExtraBold" pitchFamily="34" charset="0"/>
                <a:ea typeface="NanumGothicExtraBold" pitchFamily="34" charset="-122"/>
                <a:cs typeface="NanumGothicExtraBold" pitchFamily="34" charset="-120"/>
              </a:rPr>
              <a:t>1건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9278874" y="2743200"/>
            <a:ext cx="2041398" cy="64008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E5E5E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9388602" y="2816352"/>
            <a:ext cx="149275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D1D1F"/>
                </a:solidFill>
                <a:latin typeface="NanumGothicExtraBold" pitchFamily="34" charset="0"/>
                <a:ea typeface="NanumGothicExtraBold" pitchFamily="34" charset="-122"/>
                <a:cs typeface="NanumGothicExtraBold" pitchFamily="34" charset="-120"/>
              </a:rPr>
              <a:t>목표값 미설정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10817352" y="2871216"/>
            <a:ext cx="411480" cy="256032"/>
          </a:xfrm>
          <a:prstGeom prst="roundRect">
            <a:avLst>
              <a:gd name="adj" fmla="val 50000"/>
            </a:avLst>
          </a:prstGeom>
          <a:solidFill>
            <a:srgbClr val="F0F0F2"/>
          </a:solidFill>
          <a:ln/>
        </p:spPr>
      </p:sp>
      <p:sp>
        <p:nvSpPr>
          <p:cNvPr id="40" name="Text 38"/>
          <p:cNvSpPr/>
          <p:nvPr/>
        </p:nvSpPr>
        <p:spPr>
          <a:xfrm>
            <a:off x="10817352" y="2871216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6E6E73"/>
                </a:solidFill>
                <a:latin typeface="NanumGothicExtraBold" pitchFamily="34" charset="0"/>
                <a:ea typeface="NanumGothicExtraBold" pitchFamily="34" charset="-122"/>
                <a:cs typeface="NanumGothicExtraBold" pitchFamily="34" charset="-120"/>
              </a:rPr>
              <a:t>0건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2606040" y="3611880"/>
            <a:ext cx="8714232" cy="1417320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2700">
            <a:solidFill>
              <a:srgbClr val="E5E5EA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2743200" y="3721608"/>
            <a:ext cx="7616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D1D1F"/>
                </a:solidFill>
                <a:latin typeface="NanumGothicExtraBold" pitchFamily="34" charset="0"/>
                <a:ea typeface="NanumGothicExtraBold" pitchFamily="34" charset="-122"/>
                <a:cs typeface="NanumGothicExtraBold" pitchFamily="34" charset="-120"/>
              </a:rPr>
              <a:t>▾  강원심층수 · 목표 9건</a:t>
            </a:r>
            <a:endParaRPr lang="en-US" sz="1150" dirty="0"/>
          </a:p>
        </p:txBody>
      </p:sp>
      <p:sp>
        <p:nvSpPr>
          <p:cNvPr id="43" name="Shape 41"/>
          <p:cNvSpPr/>
          <p:nvPr/>
        </p:nvSpPr>
        <p:spPr>
          <a:xfrm>
            <a:off x="10360152" y="3721608"/>
            <a:ext cx="777240" cy="274320"/>
          </a:xfrm>
          <a:prstGeom prst="roundRect">
            <a:avLst>
              <a:gd name="adj" fmla="val 50000"/>
            </a:avLst>
          </a:prstGeom>
          <a:solidFill>
            <a:srgbClr val="FAF1DE"/>
          </a:solidFill>
          <a:ln/>
        </p:spPr>
      </p:sp>
      <p:sp>
        <p:nvSpPr>
          <p:cNvPr id="44" name="Text 42"/>
          <p:cNvSpPr/>
          <p:nvPr/>
        </p:nvSpPr>
        <p:spPr>
          <a:xfrm>
            <a:off x="10360152" y="3721608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C98A1F"/>
                </a:solidFill>
                <a:latin typeface="NanumGothicExtraBold" pitchFamily="34" charset="0"/>
                <a:ea typeface="NanumGothicExtraBold" pitchFamily="34" charset="-122"/>
                <a:cs typeface="NanumGothicExtraBold" pitchFamily="34" charset="-120"/>
              </a:rPr>
              <a:t>68.8%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2743200" y="4114800"/>
            <a:ext cx="8439912" cy="292608"/>
          </a:xfrm>
          <a:prstGeom prst="roundRect">
            <a:avLst>
              <a:gd name="adj" fmla="val 12500"/>
            </a:avLst>
          </a:prstGeom>
          <a:solidFill>
            <a:srgbClr val="EEF0F4"/>
          </a:solidFill>
          <a:ln/>
        </p:spPr>
      </p:sp>
      <p:sp>
        <p:nvSpPr>
          <p:cNvPr id="46" name="Text 44"/>
          <p:cNvSpPr/>
          <p:nvPr/>
        </p:nvSpPr>
        <p:spPr>
          <a:xfrm>
            <a:off x="2743200" y="4114800"/>
            <a:ext cx="76169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A4356"/>
                </a:solidFill>
                <a:latin typeface="NanumGothicExtraBold" pitchFamily="34" charset="0"/>
                <a:ea typeface="NanumGothicExtraBold" pitchFamily="34" charset="-122"/>
                <a:cs typeface="NanumGothicExtraBold" pitchFamily="34" charset="-120"/>
              </a:rPr>
              <a:t>  ▾  영업 · 5건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2743200" y="4480560"/>
            <a:ext cx="7616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6E73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  ▸  생산 · 1건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2743200" y="4754880"/>
            <a:ext cx="7616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6E73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  ▸  신성장 · 3건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1A1A6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대교홀딩스 SMART 사업계획 관리 시스템 · 계열사 담당자 가이드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1A1A6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22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5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D1D1F"/>
                </a:solidFill>
                <a:latin typeface="NanumGothicExtraBold" pitchFamily="34" charset="0"/>
                <a:ea typeface="NanumGothicExtraBold" pitchFamily="34" charset="-122"/>
                <a:cs typeface="NanumGothicExtraBold" pitchFamily="34" charset="-120"/>
              </a:rPr>
              <a:t>13. 자주 묻는 질문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841248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E6E73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실무에서 자주 나오는 질문을 모았습니다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5362956" cy="2011680"/>
          </a:xfrm>
          <a:prstGeom prst="roundRect">
            <a:avLst>
              <a:gd name="adj" fmla="val 2727"/>
            </a:avLst>
          </a:prstGeom>
          <a:solidFill>
            <a:srgbClr val="FFFFFF"/>
          </a:solidFill>
          <a:ln w="12700">
            <a:solidFill>
              <a:srgbClr val="E5E5EA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77240" y="1938528"/>
            <a:ext cx="365760" cy="365760"/>
          </a:xfrm>
          <a:prstGeom prst="rect">
            <a:avLst/>
          </a:prstGeom>
          <a:solidFill>
            <a:srgbClr val="3A435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anumGothicExtraBold" pitchFamily="34" charset="0"/>
                <a:ea typeface="NanumGothicExtraBold" pitchFamily="34" charset="-122"/>
                <a:cs typeface="NanumGothicExtraBold" pitchFamily="34" charset="-120"/>
              </a:rPr>
              <a:t>Q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280160" y="1920240"/>
            <a:ext cx="44028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D1D1F"/>
                </a:solidFill>
                <a:latin typeface="NanumGothicExtraBold" pitchFamily="34" charset="0"/>
                <a:ea typeface="NanumGothicExtraBold" pitchFamily="34" charset="-122"/>
                <a:cs typeface="NanumGothicExtraBold" pitchFamily="34" charset="-120"/>
              </a:rPr>
              <a:t>비밀번호를 잊어버렸어요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777240" y="2514600"/>
            <a:ext cx="4905756" cy="0"/>
          </a:xfrm>
          <a:prstGeom prst="line">
            <a:avLst/>
          </a:prstGeom>
          <a:noFill/>
          <a:ln w="9525">
            <a:solidFill>
              <a:srgbClr val="E5E5E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2651760"/>
            <a:ext cx="490575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6E6E73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화면 내 비밀번호 재설정 메뉴는 없습니다. 지주사(대교홀딩스) SMART 담당자에게 문의하면 재발급해 드립니다.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277356" y="1737360"/>
            <a:ext cx="5362956" cy="2011680"/>
          </a:xfrm>
          <a:prstGeom prst="roundRect">
            <a:avLst>
              <a:gd name="adj" fmla="val 2727"/>
            </a:avLst>
          </a:prstGeom>
          <a:solidFill>
            <a:srgbClr val="FFFFFF"/>
          </a:solidFill>
          <a:ln w="12700">
            <a:solidFill>
              <a:srgbClr val="E5E5EA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505956" y="1938528"/>
            <a:ext cx="365760" cy="365760"/>
          </a:xfrm>
          <a:prstGeom prst="rect">
            <a:avLst/>
          </a:prstGeom>
          <a:solidFill>
            <a:srgbClr val="3A435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anumGothicExtraBold" pitchFamily="34" charset="0"/>
                <a:ea typeface="NanumGothicExtraBold" pitchFamily="34" charset="-122"/>
                <a:cs typeface="NanumGothicExtraBold" pitchFamily="34" charset="-120"/>
              </a:rPr>
              <a:t>Q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008876" y="1920240"/>
            <a:ext cx="44028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D1D1F"/>
                </a:solidFill>
                <a:latin typeface="NanumGothicExtraBold" pitchFamily="34" charset="0"/>
                <a:ea typeface="NanumGothicExtraBold" pitchFamily="34" charset="-122"/>
                <a:cs typeface="NanumGothicExtraBold" pitchFamily="34" charset="-120"/>
              </a:rPr>
              <a:t>제출 후 실수를 발견했어요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505956" y="2514600"/>
            <a:ext cx="4905756" cy="0"/>
          </a:xfrm>
          <a:prstGeom prst="line">
            <a:avLst/>
          </a:prstGeom>
          <a:noFill/>
          <a:ln w="9525">
            <a:solidFill>
              <a:srgbClr val="E5E5E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05956" y="2651760"/>
            <a:ext cx="490575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6E6E73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홀딩스가 검토하기 전(제출됨 상태)이라면 [제출취소]로 임시저장으로 되돌린 뒤 수정하세요.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48640" y="4023360"/>
            <a:ext cx="5362956" cy="2011680"/>
          </a:xfrm>
          <a:prstGeom prst="roundRect">
            <a:avLst>
              <a:gd name="adj" fmla="val 2727"/>
            </a:avLst>
          </a:prstGeom>
          <a:solidFill>
            <a:srgbClr val="FFFFFF"/>
          </a:solidFill>
          <a:ln w="12700">
            <a:solidFill>
              <a:srgbClr val="E5E5EA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777240" y="4224528"/>
            <a:ext cx="365760" cy="365760"/>
          </a:xfrm>
          <a:prstGeom prst="rect">
            <a:avLst/>
          </a:prstGeom>
          <a:solidFill>
            <a:srgbClr val="3A435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anumGothicExtraBold" pitchFamily="34" charset="0"/>
                <a:ea typeface="NanumGothicExtraBold" pitchFamily="34" charset="-122"/>
                <a:cs typeface="NanumGothicExtraBold" pitchFamily="34" charset="-120"/>
              </a:rPr>
              <a:t>Q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280160" y="4206240"/>
            <a:ext cx="44028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D1D1F"/>
                </a:solidFill>
                <a:latin typeface="NanumGothicExtraBold" pitchFamily="34" charset="0"/>
                <a:ea typeface="NanumGothicExtraBold" pitchFamily="34" charset="-122"/>
                <a:cs typeface="NanumGothicExtraBold" pitchFamily="34" charset="-120"/>
              </a:rPr>
              <a:t>승인된 목표의 목표값을 잘못 설정했어요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77240" y="4800600"/>
            <a:ext cx="4905756" cy="0"/>
          </a:xfrm>
          <a:prstGeom prst="line">
            <a:avLst/>
          </a:prstGeom>
          <a:noFill/>
          <a:ln w="9525">
            <a:solidFill>
              <a:srgbClr val="E5E5E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77240" y="4937760"/>
            <a:ext cx="490575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6E6E73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[변경요청]에서 핵심지표의 기준값 · 목표값(연간/월별·분기별)을 골라 수정 요청하세요.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277356" y="4023360"/>
            <a:ext cx="5362956" cy="2011680"/>
          </a:xfrm>
          <a:prstGeom prst="roundRect">
            <a:avLst>
              <a:gd name="adj" fmla="val 2727"/>
            </a:avLst>
          </a:prstGeom>
          <a:solidFill>
            <a:srgbClr val="FFFFFF"/>
          </a:solidFill>
          <a:ln w="12700">
            <a:solidFill>
              <a:srgbClr val="E5E5EA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505956" y="4224528"/>
            <a:ext cx="365760" cy="365760"/>
          </a:xfrm>
          <a:prstGeom prst="rect">
            <a:avLst/>
          </a:prstGeom>
          <a:solidFill>
            <a:srgbClr val="3A435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anumGothicExtraBold" pitchFamily="34" charset="0"/>
                <a:ea typeface="NanumGothicExtraBold" pitchFamily="34" charset="-122"/>
                <a:cs typeface="NanumGothicExtraBold" pitchFamily="34" charset="-120"/>
              </a:rPr>
              <a:t>Q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7008876" y="4206240"/>
            <a:ext cx="44028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D1D1F"/>
                </a:solidFill>
                <a:latin typeface="NanumGothicExtraBold" pitchFamily="34" charset="0"/>
                <a:ea typeface="NanumGothicExtraBold" pitchFamily="34" charset="-122"/>
                <a:cs typeface="NanumGothicExtraBold" pitchFamily="34" charset="-120"/>
              </a:rPr>
              <a:t>실적을 마감일보다 늦게 입력하면 어떻게 되나요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505956" y="4800600"/>
            <a:ext cx="4905756" cy="0"/>
          </a:xfrm>
          <a:prstGeom prst="line">
            <a:avLst/>
          </a:prstGeom>
          <a:noFill/>
          <a:ln w="9525">
            <a:solidFill>
              <a:srgbClr val="E5E5E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505956" y="4937760"/>
            <a:ext cx="490575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6E6E73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이메일 알림이 오고 대시보드 위험 카드에 표시되지만, 입력 자체는 이후에도 계속 가능합니다.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1A1A6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대교홀딩스 SMART 사업계획 관리 시스템 · 계열사 담당자 가이드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1A1A6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23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3A435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280160" y="-1463040"/>
            <a:ext cx="3474720" cy="3474720"/>
          </a:xfrm>
          <a:prstGeom prst="ellipse">
            <a:avLst/>
          </a:prstGeom>
          <a:solidFill>
            <a:srgbClr val="2C3342"/>
          </a:solidFill>
          <a:ln/>
        </p:spPr>
      </p:sp>
      <p:sp>
        <p:nvSpPr>
          <p:cNvPr id="3" name="Shape 1"/>
          <p:cNvSpPr/>
          <p:nvPr/>
        </p:nvSpPr>
        <p:spPr>
          <a:xfrm>
            <a:off x="10058400" y="4572000"/>
            <a:ext cx="3291840" cy="3291840"/>
          </a:xfrm>
          <a:prstGeom prst="ellipse">
            <a:avLst/>
          </a:prstGeom>
          <a:solidFill>
            <a:srgbClr val="2C3342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246888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NanumGothicExtraBold" pitchFamily="34" charset="0"/>
                <a:ea typeface="NanumGothicExtraBold" pitchFamily="34" charset="-122"/>
                <a:cs typeface="NanumGothicExtraBold" pitchFamily="34" charset="-120"/>
              </a:rPr>
              <a:t>감사합니다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822960" y="34290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7DBE3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사용 중 궁금한 점은 홀딩스 SMART 시스템 담당자에게 문의해 주세요.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22960" y="41148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AA2B1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접속: https://smart.jini0828.workers.dev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SMART 사업계획 관리 시스템 - 계열사 담당자 사용 가이드</dc:title>
  <dc:subject>PptxGenJS Presentation</dc:subject>
  <dc:creator>대교홀딩스</dc:creator>
  <cp:lastModifiedBy>대교홀딩스</cp:lastModifiedBy>
  <cp:revision>1</cp:revision>
  <dcterms:created xsi:type="dcterms:W3CDTF">2026-07-12T23:33:43Z</dcterms:created>
  <dcterms:modified xsi:type="dcterms:W3CDTF">2026-07-12T23:33:43Z</dcterms:modified>
</cp:coreProperties>
</file>